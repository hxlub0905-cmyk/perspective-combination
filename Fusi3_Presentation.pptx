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29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" cy="5143500"/>
          </a:xfrm>
          <a:prstGeom prst="rect">
            <a:avLst/>
          </a:prstGeom>
          <a:solidFill>
            <a:srgbClr val="F59E0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11182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0" y="365760"/>
            <a:ext cx="64008" cy="64008"/>
          </a:xfrm>
          <a:prstGeom prst="ellipse">
            <a:avLst/>
          </a:prstGeom>
          <a:solidFill>
            <a:srgbClr val="F59E0B">
              <a:alpha val="2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0" y="685800"/>
            <a:ext cx="64008" cy="64008"/>
          </a:xfrm>
          <a:prstGeom prst="ellipse">
            <a:avLst/>
          </a:prstGeom>
          <a:solidFill>
            <a:srgbClr val="F59E0B">
              <a:alpha val="2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0" y="1005840"/>
            <a:ext cx="64008" cy="64008"/>
          </a:xfrm>
          <a:prstGeom prst="ellipse">
            <a:avLst/>
          </a:prstGeom>
          <a:solidFill>
            <a:srgbClr val="F59E0B">
              <a:alpha val="2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0" y="1325880"/>
            <a:ext cx="64008" cy="64008"/>
          </a:xfrm>
          <a:prstGeom prst="ellipse">
            <a:avLst/>
          </a:prstGeom>
          <a:solidFill>
            <a:srgbClr val="F59E0B">
              <a:alpha val="2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0" y="1645920"/>
            <a:ext cx="64008" cy="64008"/>
          </a:xfrm>
          <a:prstGeom prst="ellipse">
            <a:avLst/>
          </a:prstGeom>
          <a:solidFill>
            <a:srgbClr val="F59E0B">
              <a:alpha val="2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0" y="1965960"/>
            <a:ext cx="64008" cy="64008"/>
          </a:xfrm>
          <a:prstGeom prst="ellipse">
            <a:avLst/>
          </a:prstGeom>
          <a:solidFill>
            <a:srgbClr val="F59E0B">
              <a:alpha val="2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0" y="2286000"/>
            <a:ext cx="64008" cy="64008"/>
          </a:xfrm>
          <a:prstGeom prst="ellipse">
            <a:avLst/>
          </a:prstGeom>
          <a:solidFill>
            <a:srgbClr val="F59E0B">
              <a:alpha val="2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806440" y="365760"/>
            <a:ext cx="64008" cy="64008"/>
          </a:xfrm>
          <a:prstGeom prst="ellipse">
            <a:avLst/>
          </a:prstGeom>
          <a:solidFill>
            <a:srgbClr val="F59E0B">
              <a:alpha val="2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806440" y="685800"/>
            <a:ext cx="64008" cy="64008"/>
          </a:xfrm>
          <a:prstGeom prst="ellipse">
            <a:avLst/>
          </a:prstGeom>
          <a:solidFill>
            <a:srgbClr val="F59E0B">
              <a:alpha val="2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806440" y="1005840"/>
            <a:ext cx="64008" cy="64008"/>
          </a:xfrm>
          <a:prstGeom prst="ellipse">
            <a:avLst/>
          </a:prstGeom>
          <a:solidFill>
            <a:srgbClr val="F59E0B">
              <a:alpha val="2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806440" y="1325880"/>
            <a:ext cx="64008" cy="64008"/>
          </a:xfrm>
          <a:prstGeom prst="ellipse">
            <a:avLst/>
          </a:prstGeom>
          <a:solidFill>
            <a:srgbClr val="F59E0B">
              <a:alpha val="2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806440" y="1645920"/>
            <a:ext cx="64008" cy="64008"/>
          </a:xfrm>
          <a:prstGeom prst="ellipse">
            <a:avLst/>
          </a:prstGeom>
          <a:solidFill>
            <a:srgbClr val="F59E0B">
              <a:alpha val="2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806440" y="1965960"/>
            <a:ext cx="64008" cy="64008"/>
          </a:xfrm>
          <a:prstGeom prst="ellipse">
            <a:avLst/>
          </a:prstGeom>
          <a:solidFill>
            <a:srgbClr val="F59E0B">
              <a:alpha val="2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806440" y="2286000"/>
            <a:ext cx="64008" cy="64008"/>
          </a:xfrm>
          <a:prstGeom prst="ellipse">
            <a:avLst/>
          </a:prstGeom>
          <a:solidFill>
            <a:srgbClr val="F59E0B">
              <a:alpha val="2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126480" y="365760"/>
            <a:ext cx="64008" cy="64008"/>
          </a:xfrm>
          <a:prstGeom prst="ellipse">
            <a:avLst/>
          </a:prstGeom>
          <a:solidFill>
            <a:srgbClr val="F59E0B">
              <a:alpha val="2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126480" y="685800"/>
            <a:ext cx="64008" cy="64008"/>
          </a:xfrm>
          <a:prstGeom prst="ellipse">
            <a:avLst/>
          </a:prstGeom>
          <a:solidFill>
            <a:srgbClr val="F59E0B">
              <a:alpha val="2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126480" y="1005840"/>
            <a:ext cx="64008" cy="64008"/>
          </a:xfrm>
          <a:prstGeom prst="ellipse">
            <a:avLst/>
          </a:prstGeom>
          <a:solidFill>
            <a:srgbClr val="F59E0B">
              <a:alpha val="2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126480" y="1325880"/>
            <a:ext cx="64008" cy="64008"/>
          </a:xfrm>
          <a:prstGeom prst="ellipse">
            <a:avLst/>
          </a:prstGeom>
          <a:solidFill>
            <a:srgbClr val="F59E0B">
              <a:alpha val="2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126480" y="1645920"/>
            <a:ext cx="64008" cy="64008"/>
          </a:xfrm>
          <a:prstGeom prst="ellipse">
            <a:avLst/>
          </a:prstGeom>
          <a:solidFill>
            <a:srgbClr val="F59E0B">
              <a:alpha val="2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126480" y="1965960"/>
            <a:ext cx="64008" cy="64008"/>
          </a:xfrm>
          <a:prstGeom prst="ellipse">
            <a:avLst/>
          </a:prstGeom>
          <a:solidFill>
            <a:srgbClr val="F59E0B">
              <a:alpha val="2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126480" y="2286000"/>
            <a:ext cx="64008" cy="64008"/>
          </a:xfrm>
          <a:prstGeom prst="ellipse">
            <a:avLst/>
          </a:prstGeom>
          <a:solidFill>
            <a:srgbClr val="F59E0B">
              <a:alpha val="2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446520" y="365760"/>
            <a:ext cx="64008" cy="64008"/>
          </a:xfrm>
          <a:prstGeom prst="ellipse">
            <a:avLst/>
          </a:prstGeom>
          <a:solidFill>
            <a:srgbClr val="F59E0B">
              <a:alpha val="2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446520" y="685800"/>
            <a:ext cx="64008" cy="64008"/>
          </a:xfrm>
          <a:prstGeom prst="ellipse">
            <a:avLst/>
          </a:prstGeom>
          <a:solidFill>
            <a:srgbClr val="F59E0B">
              <a:alpha val="2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446520" y="1005840"/>
            <a:ext cx="64008" cy="64008"/>
          </a:xfrm>
          <a:prstGeom prst="ellipse">
            <a:avLst/>
          </a:prstGeom>
          <a:solidFill>
            <a:srgbClr val="F59E0B">
              <a:alpha val="2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446520" y="1325880"/>
            <a:ext cx="64008" cy="64008"/>
          </a:xfrm>
          <a:prstGeom prst="ellipse">
            <a:avLst/>
          </a:prstGeom>
          <a:solidFill>
            <a:srgbClr val="F59E0B">
              <a:alpha val="2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446520" y="1645920"/>
            <a:ext cx="64008" cy="64008"/>
          </a:xfrm>
          <a:prstGeom prst="ellipse">
            <a:avLst/>
          </a:prstGeom>
          <a:solidFill>
            <a:srgbClr val="F59E0B">
              <a:alpha val="2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446520" y="1965960"/>
            <a:ext cx="64008" cy="64008"/>
          </a:xfrm>
          <a:prstGeom prst="ellipse">
            <a:avLst/>
          </a:prstGeom>
          <a:solidFill>
            <a:srgbClr val="F59E0B">
              <a:alpha val="2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446520" y="2286000"/>
            <a:ext cx="64008" cy="64008"/>
          </a:xfrm>
          <a:prstGeom prst="ellipse">
            <a:avLst/>
          </a:prstGeom>
          <a:solidFill>
            <a:srgbClr val="F59E0B">
              <a:alpha val="2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766560" y="365760"/>
            <a:ext cx="64008" cy="64008"/>
          </a:xfrm>
          <a:prstGeom prst="ellipse">
            <a:avLst/>
          </a:prstGeom>
          <a:solidFill>
            <a:srgbClr val="F59E0B">
              <a:alpha val="2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766560" y="685800"/>
            <a:ext cx="64008" cy="64008"/>
          </a:xfrm>
          <a:prstGeom prst="ellipse">
            <a:avLst/>
          </a:prstGeom>
          <a:solidFill>
            <a:srgbClr val="F59E0B">
              <a:alpha val="2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766560" y="1005840"/>
            <a:ext cx="64008" cy="64008"/>
          </a:xfrm>
          <a:prstGeom prst="ellipse">
            <a:avLst/>
          </a:prstGeom>
          <a:solidFill>
            <a:srgbClr val="F59E0B">
              <a:alpha val="2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766560" y="1325880"/>
            <a:ext cx="64008" cy="64008"/>
          </a:xfrm>
          <a:prstGeom prst="ellipse">
            <a:avLst/>
          </a:prstGeom>
          <a:solidFill>
            <a:srgbClr val="F59E0B">
              <a:alpha val="2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766560" y="1645920"/>
            <a:ext cx="64008" cy="64008"/>
          </a:xfrm>
          <a:prstGeom prst="ellipse">
            <a:avLst/>
          </a:prstGeom>
          <a:solidFill>
            <a:srgbClr val="F59E0B">
              <a:alpha val="2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766560" y="1965960"/>
            <a:ext cx="64008" cy="64008"/>
          </a:xfrm>
          <a:prstGeom prst="ellipse">
            <a:avLst/>
          </a:prstGeom>
          <a:solidFill>
            <a:srgbClr val="F59E0B">
              <a:alpha val="2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766560" y="2286000"/>
            <a:ext cx="64008" cy="64008"/>
          </a:xfrm>
          <a:prstGeom prst="ellipse">
            <a:avLst/>
          </a:prstGeom>
          <a:solidFill>
            <a:srgbClr val="F59E0B">
              <a:alpha val="2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7086600" y="365760"/>
            <a:ext cx="64008" cy="64008"/>
          </a:xfrm>
          <a:prstGeom prst="ellipse">
            <a:avLst/>
          </a:prstGeom>
          <a:solidFill>
            <a:srgbClr val="F59E0B">
              <a:alpha val="2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7086600" y="685800"/>
            <a:ext cx="64008" cy="64008"/>
          </a:xfrm>
          <a:prstGeom prst="ellipse">
            <a:avLst/>
          </a:prstGeom>
          <a:solidFill>
            <a:srgbClr val="F59E0B">
              <a:alpha val="2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7086600" y="1005840"/>
            <a:ext cx="64008" cy="64008"/>
          </a:xfrm>
          <a:prstGeom prst="ellipse">
            <a:avLst/>
          </a:prstGeom>
          <a:solidFill>
            <a:srgbClr val="F59E0B">
              <a:alpha val="2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7086600" y="1325880"/>
            <a:ext cx="64008" cy="64008"/>
          </a:xfrm>
          <a:prstGeom prst="ellipse">
            <a:avLst/>
          </a:prstGeom>
          <a:solidFill>
            <a:srgbClr val="F59E0B">
              <a:alpha val="2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7086600" y="1645920"/>
            <a:ext cx="64008" cy="64008"/>
          </a:xfrm>
          <a:prstGeom prst="ellipse">
            <a:avLst/>
          </a:prstGeom>
          <a:solidFill>
            <a:srgbClr val="F59E0B">
              <a:alpha val="2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7086600" y="1965960"/>
            <a:ext cx="64008" cy="64008"/>
          </a:xfrm>
          <a:prstGeom prst="ellipse">
            <a:avLst/>
          </a:prstGeom>
          <a:solidFill>
            <a:srgbClr val="F59E0B">
              <a:alpha val="2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7086600" y="2286000"/>
            <a:ext cx="64008" cy="64008"/>
          </a:xfrm>
          <a:prstGeom prst="ellipse">
            <a:avLst/>
          </a:prstGeom>
          <a:solidFill>
            <a:srgbClr val="F59E0B">
              <a:alpha val="2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7406640" y="365760"/>
            <a:ext cx="64008" cy="64008"/>
          </a:xfrm>
          <a:prstGeom prst="ellipse">
            <a:avLst/>
          </a:prstGeom>
          <a:solidFill>
            <a:srgbClr val="F59E0B">
              <a:alpha val="2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406640" y="685800"/>
            <a:ext cx="64008" cy="64008"/>
          </a:xfrm>
          <a:prstGeom prst="ellipse">
            <a:avLst/>
          </a:prstGeom>
          <a:solidFill>
            <a:srgbClr val="F59E0B">
              <a:alpha val="2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7406640" y="1005840"/>
            <a:ext cx="64008" cy="64008"/>
          </a:xfrm>
          <a:prstGeom prst="ellipse">
            <a:avLst/>
          </a:prstGeom>
          <a:solidFill>
            <a:srgbClr val="F59E0B">
              <a:alpha val="2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7406640" y="1325880"/>
            <a:ext cx="64008" cy="64008"/>
          </a:xfrm>
          <a:prstGeom prst="ellipse">
            <a:avLst/>
          </a:prstGeom>
          <a:solidFill>
            <a:srgbClr val="F59E0B">
              <a:alpha val="2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7406640" y="1645920"/>
            <a:ext cx="64008" cy="64008"/>
          </a:xfrm>
          <a:prstGeom prst="ellipse">
            <a:avLst/>
          </a:prstGeom>
          <a:solidFill>
            <a:srgbClr val="F59E0B">
              <a:alpha val="2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7406640" y="1965960"/>
            <a:ext cx="64008" cy="64008"/>
          </a:xfrm>
          <a:prstGeom prst="ellipse">
            <a:avLst/>
          </a:prstGeom>
          <a:solidFill>
            <a:srgbClr val="F59E0B">
              <a:alpha val="2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7406640" y="2286000"/>
            <a:ext cx="64008" cy="64008"/>
          </a:xfrm>
          <a:prstGeom prst="ellipse">
            <a:avLst/>
          </a:prstGeom>
          <a:solidFill>
            <a:srgbClr val="F59E0B">
              <a:alpha val="2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7726680" y="365760"/>
            <a:ext cx="64008" cy="64008"/>
          </a:xfrm>
          <a:prstGeom prst="ellipse">
            <a:avLst/>
          </a:prstGeom>
          <a:solidFill>
            <a:srgbClr val="F59E0B">
              <a:alpha val="2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7726680" y="685800"/>
            <a:ext cx="64008" cy="64008"/>
          </a:xfrm>
          <a:prstGeom prst="ellipse">
            <a:avLst/>
          </a:prstGeom>
          <a:solidFill>
            <a:srgbClr val="F59E0B">
              <a:alpha val="2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7726680" y="1005840"/>
            <a:ext cx="64008" cy="64008"/>
          </a:xfrm>
          <a:prstGeom prst="ellipse">
            <a:avLst/>
          </a:prstGeom>
          <a:solidFill>
            <a:srgbClr val="F59E0B">
              <a:alpha val="2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7726680" y="1325880"/>
            <a:ext cx="64008" cy="64008"/>
          </a:xfrm>
          <a:prstGeom prst="ellipse">
            <a:avLst/>
          </a:prstGeom>
          <a:solidFill>
            <a:srgbClr val="F59E0B">
              <a:alpha val="2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7726680" y="1645920"/>
            <a:ext cx="64008" cy="64008"/>
          </a:xfrm>
          <a:prstGeom prst="ellipse">
            <a:avLst/>
          </a:prstGeom>
          <a:solidFill>
            <a:srgbClr val="F59E0B">
              <a:alpha val="2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7726680" y="1965960"/>
            <a:ext cx="64008" cy="64008"/>
          </a:xfrm>
          <a:prstGeom prst="ellipse">
            <a:avLst/>
          </a:prstGeom>
          <a:solidFill>
            <a:srgbClr val="F59E0B">
              <a:alpha val="2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7726680" y="2286000"/>
            <a:ext cx="64008" cy="64008"/>
          </a:xfrm>
          <a:prstGeom prst="ellipse">
            <a:avLst/>
          </a:prstGeom>
          <a:solidFill>
            <a:srgbClr val="F59E0B">
              <a:alpha val="2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8046720" y="365760"/>
            <a:ext cx="64008" cy="64008"/>
          </a:xfrm>
          <a:prstGeom prst="ellipse">
            <a:avLst/>
          </a:prstGeom>
          <a:solidFill>
            <a:srgbClr val="F59E0B">
              <a:alpha val="2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8046720" y="685800"/>
            <a:ext cx="64008" cy="64008"/>
          </a:xfrm>
          <a:prstGeom prst="ellipse">
            <a:avLst/>
          </a:prstGeom>
          <a:solidFill>
            <a:srgbClr val="F59E0B">
              <a:alpha val="2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8046720" y="1005840"/>
            <a:ext cx="64008" cy="64008"/>
          </a:xfrm>
          <a:prstGeom prst="ellipse">
            <a:avLst/>
          </a:prstGeom>
          <a:solidFill>
            <a:srgbClr val="F59E0B">
              <a:alpha val="2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8046720" y="1325880"/>
            <a:ext cx="64008" cy="64008"/>
          </a:xfrm>
          <a:prstGeom prst="ellipse">
            <a:avLst/>
          </a:prstGeom>
          <a:solidFill>
            <a:srgbClr val="F59E0B">
              <a:alpha val="2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8046720" y="1645920"/>
            <a:ext cx="64008" cy="64008"/>
          </a:xfrm>
          <a:prstGeom prst="ellipse">
            <a:avLst/>
          </a:prstGeom>
          <a:solidFill>
            <a:srgbClr val="F59E0B">
              <a:alpha val="2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8046720" y="1965960"/>
            <a:ext cx="64008" cy="64008"/>
          </a:xfrm>
          <a:prstGeom prst="ellipse">
            <a:avLst/>
          </a:prstGeom>
          <a:solidFill>
            <a:srgbClr val="F59E0B">
              <a:alpha val="2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8046720" y="2286000"/>
            <a:ext cx="64008" cy="64008"/>
          </a:xfrm>
          <a:prstGeom prst="ellipse">
            <a:avLst/>
          </a:prstGeom>
          <a:solidFill>
            <a:srgbClr val="F59E0B">
              <a:alpha val="2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8366760" y="365760"/>
            <a:ext cx="64008" cy="64008"/>
          </a:xfrm>
          <a:prstGeom prst="ellipse">
            <a:avLst/>
          </a:prstGeom>
          <a:solidFill>
            <a:srgbClr val="F59E0B">
              <a:alpha val="2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8366760" y="685800"/>
            <a:ext cx="64008" cy="64008"/>
          </a:xfrm>
          <a:prstGeom prst="ellipse">
            <a:avLst/>
          </a:prstGeom>
          <a:solidFill>
            <a:srgbClr val="F59E0B">
              <a:alpha val="2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8366760" y="1005840"/>
            <a:ext cx="64008" cy="64008"/>
          </a:xfrm>
          <a:prstGeom prst="ellipse">
            <a:avLst/>
          </a:prstGeom>
          <a:solidFill>
            <a:srgbClr val="F59E0B">
              <a:alpha val="2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8366760" y="1325880"/>
            <a:ext cx="64008" cy="64008"/>
          </a:xfrm>
          <a:prstGeom prst="ellipse">
            <a:avLst/>
          </a:prstGeom>
          <a:solidFill>
            <a:srgbClr val="F59E0B">
              <a:alpha val="2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8366760" y="1645920"/>
            <a:ext cx="64008" cy="64008"/>
          </a:xfrm>
          <a:prstGeom prst="ellipse">
            <a:avLst/>
          </a:prstGeom>
          <a:solidFill>
            <a:srgbClr val="F59E0B">
              <a:alpha val="2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8366760" y="1965960"/>
            <a:ext cx="64008" cy="64008"/>
          </a:xfrm>
          <a:prstGeom prst="ellipse">
            <a:avLst/>
          </a:prstGeom>
          <a:solidFill>
            <a:srgbClr val="F59E0B">
              <a:alpha val="2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8366760" y="2286000"/>
            <a:ext cx="64008" cy="64008"/>
          </a:xfrm>
          <a:prstGeom prst="ellipse">
            <a:avLst/>
          </a:prstGeom>
          <a:solidFill>
            <a:srgbClr val="F59E0B">
              <a:alpha val="2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457200" y="822960"/>
            <a:ext cx="5029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Fusi³</a:t>
            </a:r>
            <a:endParaRPr lang="en-US" sz="7800" dirty="0"/>
          </a:p>
        </p:txBody>
      </p:sp>
      <p:sp>
        <p:nvSpPr>
          <p:cNvPr id="75" name="Text 73"/>
          <p:cNvSpPr/>
          <p:nvPr/>
        </p:nvSpPr>
        <p:spPr>
          <a:xfrm>
            <a:off x="457200" y="228600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影像融合與缺陷分析工具</a:t>
            </a:r>
            <a:endParaRPr lang="en-US" sz="2200" dirty="0"/>
          </a:p>
        </p:txBody>
      </p:sp>
      <p:sp>
        <p:nvSpPr>
          <p:cNvPr id="76" name="Text 74"/>
          <p:cNvSpPr/>
          <p:nvPr/>
        </p:nvSpPr>
        <p:spPr>
          <a:xfrm>
            <a:off x="457200" y="2834640"/>
            <a:ext cx="7315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9CA3AF"/>
                </a:solidFill>
              </a:rPr>
              <a:t>SEM Image Fusion &amp; Defect Analysis Platform</a:t>
            </a:r>
            <a:endParaRPr lang="en-US" sz="1500" dirty="0"/>
          </a:p>
        </p:txBody>
      </p:sp>
      <p:sp>
        <p:nvSpPr>
          <p:cNvPr id="77" name="Shape 75"/>
          <p:cNvSpPr/>
          <p:nvPr/>
        </p:nvSpPr>
        <p:spPr>
          <a:xfrm>
            <a:off x="457200" y="3337560"/>
            <a:ext cx="1280160" cy="301752"/>
          </a:xfrm>
          <a:prstGeom prst="rect">
            <a:avLst/>
          </a:prstGeom>
          <a:solidFill>
            <a:srgbClr val="D9770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457200" y="3337560"/>
            <a:ext cx="1280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v 1.0.0</a:t>
            </a:r>
            <a:endParaRPr lang="en-US" sz="1100" dirty="0"/>
          </a:p>
        </p:txBody>
      </p:sp>
      <p:sp>
        <p:nvSpPr>
          <p:cNvPr id="79" name="Shape 77"/>
          <p:cNvSpPr/>
          <p:nvPr/>
        </p:nvSpPr>
        <p:spPr>
          <a:xfrm>
            <a:off x="1874520" y="3337560"/>
            <a:ext cx="2286000" cy="301752"/>
          </a:xfrm>
          <a:prstGeom prst="rect">
            <a:avLst/>
          </a:prstGeom>
          <a:solidFill>
            <a:srgbClr val="37415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1874520" y="3337560"/>
            <a:ext cx="22860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CA3AF"/>
                </a:solidFill>
              </a:rPr>
              <a:t>Perspective-Combination</a:t>
            </a:r>
            <a:endParaRPr lang="en-US" sz="1100" dirty="0"/>
          </a:p>
        </p:txBody>
      </p:sp>
      <p:sp>
        <p:nvSpPr>
          <p:cNvPr id="81" name="Text 79"/>
          <p:cNvSpPr/>
          <p:nvPr/>
        </p:nvSpPr>
        <p:spPr>
          <a:xfrm>
            <a:off x="274320" y="4754880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CA3AF"/>
                </a:solidFill>
              </a:rPr>
              <a:t>Powered by  PySide6 · OpenCV · NumPy · Matplotlib · python-pptx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</a:rPr>
              <a:t>系統概覽  </a:t>
            </a:r>
            <a:pPr indent="0" marL="0">
              <a:buNone/>
            </a:pPr>
            <a:r>
              <a:rPr lang="en-US" sz="1400" dirty="0">
                <a:solidFill>
                  <a:srgbClr val="4B5563"/>
                </a:solidFill>
              </a:rPr>
              <a:t>System Overview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658368"/>
            <a:ext cx="8229600" cy="22860"/>
          </a:xfrm>
          <a:prstGeom prst="rect">
            <a:avLst/>
          </a:prstGeom>
          <a:solidFill>
            <a:srgbClr val="E5E7E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658368"/>
            <a:ext cx="1645920" cy="22860"/>
          </a:xfrm>
          <a:prstGeom prst="rect">
            <a:avLst/>
          </a:prstGeom>
          <a:solidFill>
            <a:srgbClr val="F59E0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804672"/>
            <a:ext cx="3566160" cy="39776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804672"/>
            <a:ext cx="64008" cy="3977640"/>
          </a:xfrm>
          <a:prstGeom prst="rect">
            <a:avLst/>
          </a:prstGeom>
          <a:solidFill>
            <a:srgbClr val="F59E0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21208" y="886968"/>
            <a:ext cx="3246120" cy="3749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</a:rPr>
              <a:t>Fusi³ 是什麼？</a:t>
            </a:r>
            <a:endParaRPr lang="en-US" sz="1500" dirty="0"/>
          </a:p>
          <a:p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</a:rPr>
              <a:t> </a:t>
            </a:r>
            <a:endParaRPr lang="en-US" sz="1500" dirty="0"/>
          </a:p>
          <a:p>
            <a:pPr indent="0" marL="0">
              <a:buNone/>
            </a:pPr>
            <a:r>
              <a:rPr lang="en-US" sz="1250" dirty="0">
                <a:solidFill>
                  <a:srgbClr val="4B5563"/>
                </a:solidFill>
              </a:rPr>
              <a:t>專為半導體製程 SEM 影像分析設計的桌面工具，可融合多組不同拍攝條件的影像，精確對齊後執行運算，協助工程師快速識別微缺陷。</a:t>
            </a:r>
            <a:endParaRPr lang="en-US" sz="1500" dirty="0"/>
          </a:p>
          <a:p>
            <a:pPr indent="0" marL="0">
              <a:buNone/>
            </a:pPr>
            <a:r>
              <a:rPr lang="en-US" sz="700" dirty="0">
                <a:solidFill>
                  <a:srgbClr val="000000"/>
                </a:solidFill>
              </a:rPr>
              <a:t> 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</a:rPr>
              <a:t>What is Fusi³?</a:t>
            </a:r>
            <a:endParaRPr lang="en-US" sz="1500" dirty="0"/>
          </a:p>
          <a:p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</a:rPr>
              <a:t> </a:t>
            </a:r>
            <a:endParaRPr lang="en-US" sz="1500" dirty="0"/>
          </a:p>
          <a:p>
            <a:pPr indent="0" marL="0">
              <a:buNone/>
            </a:pPr>
            <a:r>
              <a:rPr lang="en-US" sz="1250" dirty="0">
                <a:solidFill>
                  <a:srgbClr val="4B5563"/>
                </a:solidFill>
              </a:rPr>
              <a:t>A desktop tool for semiconductor SEM image analysis — fusing multi-condition images, aligning precisely, and computing results to help engineers detect micro-defects rapidly.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251960" y="822960"/>
            <a:ext cx="4572000" cy="117043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251960" y="822960"/>
            <a:ext cx="64008" cy="1170432"/>
          </a:xfrm>
          <a:prstGeom prst="rect">
            <a:avLst/>
          </a:prstGeom>
          <a:solidFill>
            <a:srgbClr val="F59E0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416552" y="1088136"/>
            <a:ext cx="640080" cy="64008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416552" y="1088136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1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5257800" y="914400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</a:rPr>
              <a:t>多影像融合 / Multi-Image Fusion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257800" y="1280160"/>
            <a:ext cx="3474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</a:rPr>
              <a:t>多組 E-beam 條件影像 → 對齊 → 運算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</a:rPr>
              <a:t>Multi-condition images → Align → Compute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251960" y="2167128"/>
            <a:ext cx="4572000" cy="117043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251960" y="2167128"/>
            <a:ext cx="64008" cy="1170432"/>
          </a:xfrm>
          <a:prstGeom prst="rect">
            <a:avLst/>
          </a:prstGeom>
          <a:solidFill>
            <a:srgbClr val="16A3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416552" y="2432304"/>
            <a:ext cx="640080" cy="640080"/>
          </a:xfrm>
          <a:prstGeom prst="ellipse">
            <a:avLst/>
          </a:prstGeom>
          <a:solidFill>
            <a:srgbClr val="16A3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416552" y="2432304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2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5257800" y="2258568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</a:rPr>
              <a:t>缺陷視覺化 / Defect Visualization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257800" y="2624328"/>
            <a:ext cx="3474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</a:rPr>
              <a:t>SNR 熱圖 + ROI 統計 + DVI 指標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</a:rPr>
              <a:t>SNR heatmap + ROI stats + DVI metrics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251960" y="3511296"/>
            <a:ext cx="4572000" cy="117043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251960" y="3511296"/>
            <a:ext cx="64008" cy="1170432"/>
          </a:xfrm>
          <a:prstGeom prst="rect">
            <a:avLst/>
          </a:prstGeom>
          <a:solidFill>
            <a:srgbClr val="2563E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416552" y="3776472"/>
            <a:ext cx="640080" cy="64008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416552" y="377647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3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5257800" y="3602736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</a:rPr>
              <a:t>自動化報告 / Automated Report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257800" y="3968496"/>
            <a:ext cx="3474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</a:rPr>
              <a:t>一鍵輸出 PPTX 分析報告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</a:rPr>
              <a:t>One-click PPTX analysis report export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</a:rPr>
              <a:t>操作流程  </a:t>
            </a:r>
            <a:pPr indent="0" marL="0">
              <a:buNone/>
            </a:pPr>
            <a:r>
              <a:rPr lang="en-US" sz="1400" dirty="0">
                <a:solidFill>
                  <a:srgbClr val="4B5563"/>
                </a:solidFill>
              </a:rPr>
              <a:t>Workflow Overview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658368"/>
            <a:ext cx="8229600" cy="22860"/>
          </a:xfrm>
          <a:prstGeom prst="rect">
            <a:avLst/>
          </a:prstGeom>
          <a:solidFill>
            <a:srgbClr val="E5E7E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658368"/>
            <a:ext cx="1645920" cy="22860"/>
          </a:xfrm>
          <a:prstGeom prst="rect">
            <a:avLst/>
          </a:prstGeom>
          <a:solidFill>
            <a:srgbClr val="F59E0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795528"/>
            <a:ext cx="1481328" cy="32918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795528"/>
            <a:ext cx="1481328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86384" y="960120"/>
            <a:ext cx="640080" cy="64008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86384" y="9601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1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438912" y="1709928"/>
            <a:ext cx="13350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937"/>
                </a:solidFill>
              </a:rPr>
              <a:t>載入影像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38912" y="2112264"/>
            <a:ext cx="13350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4B5563"/>
                </a:solidFill>
              </a:rPr>
              <a:t>Load Images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94360" y="2478024"/>
            <a:ext cx="1024128" cy="22860"/>
          </a:xfrm>
          <a:prstGeom prst="rect">
            <a:avLst/>
          </a:prstGeom>
          <a:solidFill>
            <a:srgbClr val="E5E7E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569464"/>
            <a:ext cx="129844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B5563"/>
                </a:solidFill>
              </a:rPr>
              <a:t>選擇 Base +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4B5563"/>
                </a:solidFill>
              </a:rPr>
              <a:t>多張 Compare 影像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1851660" y="2427732"/>
            <a:ext cx="73152" cy="27432"/>
          </a:xfrm>
          <a:prstGeom prst="rect">
            <a:avLst/>
          </a:prstGeom>
          <a:solidFill>
            <a:srgbClr val="FBBF2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920240" y="795528"/>
            <a:ext cx="1481328" cy="32918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1920240" y="795528"/>
            <a:ext cx="1481328" cy="64008"/>
          </a:xfrm>
          <a:prstGeom prst="rect">
            <a:avLst/>
          </a:prstGeom>
          <a:solidFill>
            <a:srgbClr val="D9770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340864" y="960120"/>
            <a:ext cx="640080" cy="640080"/>
          </a:xfrm>
          <a:prstGeom prst="ellipse">
            <a:avLst/>
          </a:prstGeom>
          <a:solidFill>
            <a:srgbClr val="D9770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340864" y="9601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2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993392" y="1709928"/>
            <a:ext cx="13350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937"/>
                </a:solidFill>
              </a:rPr>
              <a:t>設定參數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993392" y="2112264"/>
            <a:ext cx="13350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4B5563"/>
                </a:solidFill>
              </a:rPr>
              <a:t>Configure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2148840" y="2478024"/>
            <a:ext cx="1024128" cy="22860"/>
          </a:xfrm>
          <a:prstGeom prst="rect">
            <a:avLst/>
          </a:prstGeom>
          <a:solidFill>
            <a:srgbClr val="E5E7E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011680" y="2569464"/>
            <a:ext cx="129844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B5563"/>
                </a:solidFill>
              </a:rPr>
              <a:t>EF 條件解析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4B5563"/>
                </a:solidFill>
              </a:rPr>
              <a:t>運算類型 / Alpha 值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406140" y="2427732"/>
            <a:ext cx="73152" cy="27432"/>
          </a:xfrm>
          <a:prstGeom prst="rect">
            <a:avLst/>
          </a:prstGeom>
          <a:solidFill>
            <a:srgbClr val="FBBF2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474720" y="795528"/>
            <a:ext cx="1481328" cy="32918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474720" y="795528"/>
            <a:ext cx="1481328" cy="64008"/>
          </a:xfrm>
          <a:prstGeom prst="rect">
            <a:avLst/>
          </a:prstGeom>
          <a:solidFill>
            <a:srgbClr val="16A3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895344" y="960120"/>
            <a:ext cx="640080" cy="640080"/>
          </a:xfrm>
          <a:prstGeom prst="ellipse">
            <a:avLst/>
          </a:prstGeom>
          <a:solidFill>
            <a:srgbClr val="16A3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895344" y="9601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3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3547872" y="1709928"/>
            <a:ext cx="13350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937"/>
                </a:solidFill>
              </a:rPr>
              <a:t>對齊運算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3547872" y="2112264"/>
            <a:ext cx="13350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4B5563"/>
                </a:solidFill>
              </a:rPr>
              <a:t>Align &amp; Compute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3703320" y="2478024"/>
            <a:ext cx="1024128" cy="22860"/>
          </a:xfrm>
          <a:prstGeom prst="rect">
            <a:avLst/>
          </a:prstGeom>
          <a:solidFill>
            <a:srgbClr val="E5E7E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566160" y="2569464"/>
            <a:ext cx="129844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B5563"/>
                </a:solidFill>
              </a:rPr>
              <a:t>Phase Correlation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4B5563"/>
                </a:solidFill>
              </a:rPr>
              <a:t>+ Sobel Edge 對齊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960620" y="2427732"/>
            <a:ext cx="73152" cy="27432"/>
          </a:xfrm>
          <a:prstGeom prst="rect">
            <a:avLst/>
          </a:prstGeom>
          <a:solidFill>
            <a:srgbClr val="FBBF2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029200" y="795528"/>
            <a:ext cx="1481328" cy="32918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5029200" y="795528"/>
            <a:ext cx="1481328" cy="64008"/>
          </a:xfrm>
          <a:prstGeom prst="rect">
            <a:avLst/>
          </a:prstGeom>
          <a:solidFill>
            <a:srgbClr val="2563E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449824" y="960120"/>
            <a:ext cx="640080" cy="64008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449824" y="9601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4</a:t>
            </a:r>
            <a:endParaRPr lang="en-US" sz="2000" dirty="0"/>
          </a:p>
        </p:txBody>
      </p:sp>
      <p:sp>
        <p:nvSpPr>
          <p:cNvPr id="36" name="Text 34"/>
          <p:cNvSpPr/>
          <p:nvPr/>
        </p:nvSpPr>
        <p:spPr>
          <a:xfrm>
            <a:off x="5102352" y="1709928"/>
            <a:ext cx="13350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937"/>
                </a:solidFill>
              </a:rPr>
              <a:t>SNR / ROI 分析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5102352" y="2112264"/>
            <a:ext cx="13350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4B5563"/>
                </a:solidFill>
              </a:rPr>
              <a:t>Analyze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5257800" y="2478024"/>
            <a:ext cx="1024128" cy="22860"/>
          </a:xfrm>
          <a:prstGeom prst="rect">
            <a:avLst/>
          </a:prstGeom>
          <a:solidFill>
            <a:srgbClr val="E5E7E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120640" y="2569464"/>
            <a:ext cx="129844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B5563"/>
                </a:solidFill>
              </a:rPr>
              <a:t>SNR 熱圖 +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4B5563"/>
                </a:solidFill>
              </a:rPr>
              <a:t>ROI 缺陷指標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6515100" y="2427732"/>
            <a:ext cx="73152" cy="27432"/>
          </a:xfrm>
          <a:prstGeom prst="rect">
            <a:avLst/>
          </a:prstGeom>
          <a:solidFill>
            <a:srgbClr val="FBBF2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583680" y="795528"/>
            <a:ext cx="1481328" cy="32918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6583680" y="795528"/>
            <a:ext cx="1481328" cy="64008"/>
          </a:xfrm>
          <a:prstGeom prst="rect">
            <a:avLst/>
          </a:prstGeom>
          <a:solidFill>
            <a:srgbClr val="7C3AE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7004304" y="960120"/>
            <a:ext cx="640080" cy="64008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004304" y="9601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5</a:t>
            </a:r>
            <a:endParaRPr lang="en-US" sz="2000" dirty="0"/>
          </a:p>
        </p:txBody>
      </p:sp>
      <p:sp>
        <p:nvSpPr>
          <p:cNvPr id="45" name="Text 43"/>
          <p:cNvSpPr/>
          <p:nvPr/>
        </p:nvSpPr>
        <p:spPr>
          <a:xfrm>
            <a:off x="6656832" y="1709928"/>
            <a:ext cx="13350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937"/>
                </a:solidFill>
              </a:rPr>
              <a:t>輸出報告</a:t>
            </a:r>
            <a:endParaRPr lang="en-US" sz="1400" dirty="0"/>
          </a:p>
        </p:txBody>
      </p:sp>
      <p:sp>
        <p:nvSpPr>
          <p:cNvPr id="46" name="Text 44"/>
          <p:cNvSpPr/>
          <p:nvPr/>
        </p:nvSpPr>
        <p:spPr>
          <a:xfrm>
            <a:off x="6656832" y="2112264"/>
            <a:ext cx="13350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4B5563"/>
                </a:solidFill>
              </a:rPr>
              <a:t>Export Report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6812280" y="2478024"/>
            <a:ext cx="1024128" cy="22860"/>
          </a:xfrm>
          <a:prstGeom prst="rect">
            <a:avLst/>
          </a:prstGeom>
          <a:solidFill>
            <a:srgbClr val="E5E7E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675120" y="2569464"/>
            <a:ext cx="129844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B5563"/>
                </a:solidFill>
              </a:rPr>
              <a:t>一鍵生成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4B5563"/>
                </a:solidFill>
              </a:rPr>
              <a:t>PPTX 報告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365760" y="4224528"/>
            <a:ext cx="8412480" cy="548640"/>
          </a:xfrm>
          <a:prstGeom prst="rect">
            <a:avLst/>
          </a:prstGeom>
          <a:solidFill>
            <a:srgbClr val="FEF3C7"/>
          </a:solidFill>
          <a:ln w="6350">
            <a:solidFill>
              <a:srgbClr val="F59E0B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02920" y="4270248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2400E"/>
                </a:solidFill>
              </a:rPr>
              <a:t>★  每個步驟皆有即時預覽視窗，所有參數可隨時調整後重新執行  |  Real-time preview at every step — re-run anytime after adjusting parameters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</a:rPr>
              <a:t>影像載入與自動解析  </a:t>
            </a:r>
            <a:pPr indent="0" marL="0">
              <a:buNone/>
            </a:pPr>
            <a:r>
              <a:rPr lang="en-US" sz="1400" dirty="0">
                <a:solidFill>
                  <a:srgbClr val="4B5563"/>
                </a:solidFill>
              </a:rPr>
              <a:t>Image Loading &amp; Auto-Parsing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658368"/>
            <a:ext cx="8229600" cy="22860"/>
          </a:xfrm>
          <a:prstGeom prst="rect">
            <a:avLst/>
          </a:prstGeom>
          <a:solidFill>
            <a:srgbClr val="E5E7E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658368"/>
            <a:ext cx="1645920" cy="22860"/>
          </a:xfrm>
          <a:prstGeom prst="rect">
            <a:avLst/>
          </a:prstGeom>
          <a:solidFill>
            <a:srgbClr val="F59E0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804672"/>
            <a:ext cx="3840480" cy="39319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804672"/>
            <a:ext cx="64008" cy="3931920"/>
          </a:xfrm>
          <a:prstGeom prst="rect">
            <a:avLst/>
          </a:prstGeom>
          <a:solidFill>
            <a:srgbClr val="F59E0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30352" y="932688"/>
            <a:ext cx="3520440" cy="402336"/>
          </a:xfrm>
          <a:prstGeom prst="rect">
            <a:avLst/>
          </a:prstGeom>
          <a:solidFill>
            <a:srgbClr val="FEF3C7"/>
          </a:solidFill>
          <a:ln w="10160">
            <a:solidFill>
              <a:srgbClr val="F59E0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03504" y="932688"/>
            <a:ext cx="3383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7706"/>
                </a:solidFill>
              </a:rPr>
              <a:t>Base 影像  /  Base Image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03504" y="1389888"/>
            <a:ext cx="33832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</a:rPr>
              <a:t>作為對齊基準的主影像，所有 Compare 影像皆對齊至此。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</a:rPr>
              <a:t>The reference image — all compare images align to it.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30352" y="2231136"/>
            <a:ext cx="3520440" cy="22860"/>
          </a:xfrm>
          <a:prstGeom prst="rect">
            <a:avLst/>
          </a:prstGeom>
          <a:solidFill>
            <a:srgbClr val="E5E7E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30352" y="2340864"/>
            <a:ext cx="3520440" cy="402336"/>
          </a:xfrm>
          <a:prstGeom prst="rect">
            <a:avLst/>
          </a:prstGeom>
          <a:solidFill>
            <a:srgbClr val="FEF3C7"/>
          </a:solidFill>
          <a:ln w="10160">
            <a:solidFill>
              <a:srgbClr val="F59E0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03504" y="2340864"/>
            <a:ext cx="3383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7706"/>
                </a:solidFill>
              </a:rPr>
              <a:t>Compare 影像  /  Compare Images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03504" y="2798064"/>
            <a:ext cx="33832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</a:rPr>
              <a:t>支援多張 Compare 影像同時載入，一次完成批次對比分析。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</a:rPr>
              <a:t>Supports loading multiple compare images simultaneously.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30352" y="3657600"/>
            <a:ext cx="3520440" cy="347472"/>
          </a:xfrm>
          <a:prstGeom prst="rect">
            <a:avLst/>
          </a:prstGeom>
          <a:solidFill>
            <a:srgbClr val="F5F6F8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03504" y="3657600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CA3AF"/>
                </a:solidFill>
              </a:rPr>
              <a:t>支援格式：PNG · TIF · BMP · JPG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480560" y="804672"/>
            <a:ext cx="4297680" cy="39319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480560" y="804672"/>
            <a:ext cx="64008" cy="3931920"/>
          </a:xfrm>
          <a:prstGeom prst="rect">
            <a:avLst/>
          </a:prstGeom>
          <a:solidFill>
            <a:srgbClr val="D9770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636008" y="886968"/>
            <a:ext cx="3977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</a:rPr>
              <a:t>E-beam 條件自動解析  /  Auto Filename Parsing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636008" y="1325880"/>
            <a:ext cx="3977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B5563"/>
                </a:solidFill>
              </a:rPr>
              <a:t>從檔名自動提取 E-beam 參數，無需手動輸入。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4B5563"/>
                </a:solidFill>
              </a:rPr>
              <a:t>Auto-extracts E-beam params from filename.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636008" y="1874520"/>
            <a:ext cx="3977640" cy="384048"/>
          </a:xfrm>
          <a:prstGeom prst="rect">
            <a:avLst/>
          </a:prstGeom>
          <a:solidFill>
            <a:srgbClr val="11182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36008" y="1874520"/>
            <a:ext cx="3977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img_5kV_100pA_001.tif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492240" y="2304288"/>
            <a:ext cx="27432" cy="274320"/>
          </a:xfrm>
          <a:prstGeom prst="rect">
            <a:avLst/>
          </a:prstGeom>
          <a:solidFill>
            <a:srgbClr val="F59E0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636008" y="2633472"/>
            <a:ext cx="1828800" cy="640080"/>
          </a:xfrm>
          <a:prstGeom prst="rect">
            <a:avLst/>
          </a:prstGeom>
          <a:solidFill>
            <a:srgbClr val="FEF3C7"/>
          </a:solidFill>
          <a:ln w="10160">
            <a:solidFill>
              <a:srgbClr val="F59E0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636008" y="2670048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B5563"/>
                </a:solidFill>
              </a:rPr>
              <a:t>電壓  Voltage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636008" y="290779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D97706"/>
                </a:solidFill>
              </a:rPr>
              <a:t>5 kV</a:t>
            </a:r>
            <a:endParaRPr lang="en-US" sz="1700" dirty="0"/>
          </a:p>
        </p:txBody>
      </p:sp>
      <p:sp>
        <p:nvSpPr>
          <p:cNvPr id="26" name="Shape 24"/>
          <p:cNvSpPr/>
          <p:nvPr/>
        </p:nvSpPr>
        <p:spPr>
          <a:xfrm>
            <a:off x="6693408" y="2633472"/>
            <a:ext cx="1828800" cy="640080"/>
          </a:xfrm>
          <a:prstGeom prst="rect">
            <a:avLst/>
          </a:prstGeom>
          <a:solidFill>
            <a:srgbClr val="FEF3C7"/>
          </a:solidFill>
          <a:ln w="10160">
            <a:solidFill>
              <a:srgbClr val="F59E0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693408" y="2670048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B5563"/>
                </a:solidFill>
              </a:rPr>
              <a:t>電流  Current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693408" y="290779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D97706"/>
                </a:solidFill>
              </a:rPr>
              <a:t>100 pA</a:t>
            </a:r>
            <a:endParaRPr lang="en-US" sz="1700" dirty="0"/>
          </a:p>
        </p:txBody>
      </p:sp>
      <p:sp>
        <p:nvSpPr>
          <p:cNvPr id="29" name="Text 27"/>
          <p:cNvSpPr/>
          <p:nvPr/>
        </p:nvSpPr>
        <p:spPr>
          <a:xfrm>
            <a:off x="4480560" y="342900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CA3AF"/>
                </a:solidFill>
              </a:rPr>
              <a:t>解析結果自動填入 UI 欄位  ·  Parsed values auto-populate UI fields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480560" y="3858768"/>
            <a:ext cx="4297680" cy="594360"/>
          </a:xfrm>
          <a:prstGeom prst="rect">
            <a:avLst/>
          </a:prstGeom>
          <a:solidFill>
            <a:srgbClr val="FEF3C7"/>
          </a:solidFill>
          <a:ln w="6350">
            <a:solidFill>
              <a:srgbClr val="FBBF2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617720" y="3904488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2400E"/>
                </a:solidFill>
              </a:rPr>
              <a:t>★  首次啟動自動顯示新手引導 Tutorial，逐步帶領使用者完成第一次操作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92400E"/>
                </a:solidFill>
              </a:rPr>
              <a:t>★  First launch shows Welcome Tutorial Overlay for guided onboarding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</a:rPr>
              <a:t>影像對齊技術  </a:t>
            </a:r>
            <a:pPr indent="0" marL="0">
              <a:buNone/>
            </a:pPr>
            <a:r>
              <a:rPr lang="en-US" sz="1400" dirty="0">
                <a:solidFill>
                  <a:srgbClr val="4B5563"/>
                </a:solidFill>
              </a:rPr>
              <a:t>Image Alignment Algorithm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658368"/>
            <a:ext cx="8229600" cy="22860"/>
          </a:xfrm>
          <a:prstGeom prst="rect">
            <a:avLst/>
          </a:prstGeom>
          <a:solidFill>
            <a:srgbClr val="E5E7E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658368"/>
            <a:ext cx="1645920" cy="22860"/>
          </a:xfrm>
          <a:prstGeom prst="rect">
            <a:avLst/>
          </a:prstGeom>
          <a:solidFill>
            <a:srgbClr val="F59E0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804672"/>
            <a:ext cx="3931920" cy="36576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804672"/>
            <a:ext cx="64008" cy="3657600"/>
          </a:xfrm>
          <a:prstGeom prst="rect">
            <a:avLst/>
          </a:prstGeom>
          <a:solidFill>
            <a:srgbClr val="F59E0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21208" y="896112"/>
            <a:ext cx="777240" cy="256032"/>
          </a:xfrm>
          <a:prstGeom prst="rect">
            <a:avLst/>
          </a:prstGeom>
          <a:solidFill>
            <a:srgbClr val="F59E0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21208" y="896112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Step 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21208" y="1216152"/>
            <a:ext cx="3611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</a:rPr>
              <a:t>相位相關法  /  Phase Correlation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21208" y="1664208"/>
            <a:ext cx="3474720" cy="22860"/>
          </a:xfrm>
          <a:prstGeom prst="rect">
            <a:avLst/>
          </a:prstGeom>
          <a:solidFill>
            <a:srgbClr val="E5E7E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21208" y="1737360"/>
            <a:ext cx="361188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</a:rPr>
              <a:t>利用頻域相位差計算亞像素級位移偏移量，精確對齊兩張影像的空間位置。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</a:rPr>
              <a:t>Computes sub-pixel shift via frequency-domain phase difference — achieves precise spatial alignment.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663440" y="804672"/>
            <a:ext cx="3931920" cy="36576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663440" y="804672"/>
            <a:ext cx="64008" cy="3657600"/>
          </a:xfrm>
          <a:prstGeom prst="rect">
            <a:avLst/>
          </a:prstGeom>
          <a:solidFill>
            <a:srgbClr val="16A3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818888" y="896112"/>
            <a:ext cx="777240" cy="256032"/>
          </a:xfrm>
          <a:prstGeom prst="rect">
            <a:avLst/>
          </a:prstGeom>
          <a:solidFill>
            <a:srgbClr val="16A3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18888" y="896112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Step 2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818888" y="1216152"/>
            <a:ext cx="3611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</a:rPr>
              <a:t>Sobel 邊緣增強  /  Sobel Edge Detection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4818888" y="1664208"/>
            <a:ext cx="3474720" cy="22860"/>
          </a:xfrm>
          <a:prstGeom prst="rect">
            <a:avLst/>
          </a:prstGeom>
          <a:solidFill>
            <a:srgbClr val="E5E7E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18888" y="1737360"/>
            <a:ext cx="361188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</a:rPr>
              <a:t>對影像施加 Sobel 梯度濾波，強化邊緣特徵後再進行 Phase Correlation，提升低對比度影像的對齊精度。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</a:rPr>
              <a:t>Applies Sobel gradient filter to enhance edges before phase correlation, improving alignment for low-contrast images.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4572000"/>
            <a:ext cx="8412480" cy="365760"/>
          </a:xfrm>
          <a:prstGeom prst="rect">
            <a:avLst/>
          </a:prstGeom>
          <a:solidFill>
            <a:srgbClr val="11182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457200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CA3AF"/>
                </a:solidFill>
              </a:rPr>
              <a:t>對齊結果包含：位移向量 (dx, dy)  ·  對齊品質分數  ·  對齊前後可視化預覽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</a:rPr>
              <a:t>影像運算類型  </a:t>
            </a:r>
            <a:pPr indent="0" marL="0">
              <a:buNone/>
            </a:pPr>
            <a:r>
              <a:rPr lang="en-US" sz="1400" dirty="0">
                <a:solidFill>
                  <a:srgbClr val="4B5563"/>
                </a:solidFill>
              </a:rPr>
              <a:t>Image Operation Types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658368"/>
            <a:ext cx="8229600" cy="22860"/>
          </a:xfrm>
          <a:prstGeom prst="rect">
            <a:avLst/>
          </a:prstGeom>
          <a:solidFill>
            <a:srgbClr val="E5E7E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658368"/>
            <a:ext cx="1645920" cy="22860"/>
          </a:xfrm>
          <a:prstGeom prst="rect">
            <a:avLst/>
          </a:prstGeom>
          <a:solidFill>
            <a:srgbClr val="F59E0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795528"/>
            <a:ext cx="2578608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795528"/>
            <a:ext cx="64008" cy="1691640"/>
          </a:xfrm>
          <a:prstGeom prst="rect">
            <a:avLst/>
          </a:prstGeom>
          <a:solidFill>
            <a:srgbClr val="F59E0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75488" y="886968"/>
            <a:ext cx="2322576" cy="292608"/>
          </a:xfrm>
          <a:prstGeom prst="rect">
            <a:avLst/>
          </a:prstGeom>
          <a:solidFill>
            <a:srgbClr val="11182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5488" y="886968"/>
            <a:ext cx="23225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Base − Compare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75488" y="1234440"/>
            <a:ext cx="23225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</a:rPr>
              <a:t>相減  /  Subtract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75488" y="1600200"/>
            <a:ext cx="23225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B5563"/>
                </a:solidFill>
              </a:rPr>
              <a:t>凸顯兩影像差異，識別亮度變化區域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B5563"/>
                </a:solidFill>
              </a:rPr>
              <a:t>Highlights differences, detects brightness changes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127248" y="795528"/>
            <a:ext cx="2578608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127248" y="795528"/>
            <a:ext cx="64008" cy="1691640"/>
          </a:xfrm>
          <a:prstGeom prst="rect">
            <a:avLst/>
          </a:prstGeom>
          <a:solidFill>
            <a:srgbClr val="16A3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82696" y="886968"/>
            <a:ext cx="2322576" cy="292608"/>
          </a:xfrm>
          <a:prstGeom prst="rect">
            <a:avLst/>
          </a:prstGeom>
          <a:solidFill>
            <a:srgbClr val="11182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82696" y="886968"/>
            <a:ext cx="23225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α×Base + β×Compare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282696" y="1234440"/>
            <a:ext cx="23225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</a:rPr>
              <a:t>混合  /  Blend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282696" y="1600200"/>
            <a:ext cx="23225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B5563"/>
                </a:solidFill>
              </a:rPr>
              <a:t>可調 alpha/beta 權重，融合兩影像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B5563"/>
                </a:solidFill>
              </a:rPr>
              <a:t>Adjustable α/β weights, fuses two images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943600" y="795528"/>
            <a:ext cx="2578608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943600" y="795528"/>
            <a:ext cx="64008" cy="1691640"/>
          </a:xfrm>
          <a:prstGeom prst="rect">
            <a:avLst/>
          </a:prstGeom>
          <a:solidFill>
            <a:srgbClr val="2563E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099048" y="886968"/>
            <a:ext cx="2322576" cy="292608"/>
          </a:xfrm>
          <a:prstGeom prst="rect">
            <a:avLst/>
          </a:prstGeom>
          <a:solidFill>
            <a:srgbClr val="11182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099048" y="886968"/>
            <a:ext cx="23225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255 − Base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099048" y="1234440"/>
            <a:ext cx="23225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</a:rPr>
              <a:t>反相(Base)  /  Invert Base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099048" y="1600200"/>
            <a:ext cx="23225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B5563"/>
                </a:solidFill>
              </a:rPr>
              <a:t>對 Base 影像執行反相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B5563"/>
                </a:solidFill>
              </a:rPr>
              <a:t>Inverts the base image grayscale values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1737360" y="2697480"/>
            <a:ext cx="2578608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1737360" y="2697480"/>
            <a:ext cx="64008" cy="1691640"/>
          </a:xfrm>
          <a:prstGeom prst="rect">
            <a:avLst/>
          </a:prstGeom>
          <a:solidFill>
            <a:srgbClr val="7C3AE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892808" y="2788920"/>
            <a:ext cx="2322576" cy="292608"/>
          </a:xfrm>
          <a:prstGeom prst="rect">
            <a:avLst/>
          </a:prstGeom>
          <a:solidFill>
            <a:srgbClr val="11182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892808" y="2788920"/>
            <a:ext cx="23225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255 − Compare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892808" y="3136392"/>
            <a:ext cx="23225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</a:rPr>
              <a:t>反相(Compare)  /  Invert Compare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892808" y="3502152"/>
            <a:ext cx="23225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B5563"/>
                </a:solidFill>
              </a:rPr>
              <a:t>對 Compare 影像執行反相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B5563"/>
                </a:solidFill>
              </a:rPr>
              <a:t>Inverts the compare image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572000" y="2697480"/>
            <a:ext cx="2578608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572000" y="2697480"/>
            <a:ext cx="64008" cy="1691640"/>
          </a:xfrm>
          <a:prstGeom prst="rect">
            <a:avLst/>
          </a:prstGeom>
          <a:solidFill>
            <a:srgbClr val="0D948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727448" y="2788920"/>
            <a:ext cx="2322576" cy="292608"/>
          </a:xfrm>
          <a:prstGeom prst="rect">
            <a:avLst/>
          </a:prstGeom>
          <a:solidFill>
            <a:srgbClr val="11182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27448" y="2788920"/>
            <a:ext cx="23225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255 − Result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727448" y="3136392"/>
            <a:ext cx="23225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</a:rPr>
              <a:t>反相(Result)  /  Invert Result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4727448" y="3502152"/>
            <a:ext cx="23225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B5563"/>
                </a:solidFill>
              </a:rPr>
              <a:t>對運算結果執行反相，增強可見性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B5563"/>
                </a:solidFill>
              </a:rPr>
              <a:t>Inverts the computed result image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320040" y="4462272"/>
            <a:ext cx="8503920" cy="457200"/>
          </a:xfrm>
          <a:prstGeom prst="rect">
            <a:avLst/>
          </a:prstGeom>
          <a:solidFill>
            <a:srgbClr val="FEF3C7"/>
          </a:solidFill>
          <a:ln w="6350">
            <a:solidFill>
              <a:srgbClr val="F59E0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02920" y="4480560"/>
            <a:ext cx="8229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2400E"/>
                </a:solidFill>
              </a:rPr>
              <a:t>Blend 模式：α + β = 1.0，預設 α = 0.5 / β = 0.5，可透過 UI 滑桿即時調整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2400E"/>
                </a:solidFill>
              </a:rPr>
              <a:t>Blend mode: α + β = 1.0, default 0.5 / 0.5 — adjustable via UI slider in real time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</a:rPr>
              <a:t>SNR 訊號分析  </a:t>
            </a:r>
            <a:pPr indent="0" marL="0">
              <a:buNone/>
            </a:pPr>
            <a:r>
              <a:rPr lang="en-US" sz="1400" dirty="0">
                <a:solidFill>
                  <a:srgbClr val="4B5563"/>
                </a:solidFill>
              </a:rPr>
              <a:t>SNR Signal Analysis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658368"/>
            <a:ext cx="8229600" cy="22860"/>
          </a:xfrm>
          <a:prstGeom prst="rect">
            <a:avLst/>
          </a:prstGeom>
          <a:solidFill>
            <a:srgbClr val="E5E7E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658368"/>
            <a:ext cx="1645920" cy="22860"/>
          </a:xfrm>
          <a:prstGeom prst="rect">
            <a:avLst/>
          </a:prstGeom>
          <a:solidFill>
            <a:srgbClr val="F59E0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804672"/>
            <a:ext cx="260604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804672"/>
            <a:ext cx="2606040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5488" y="886968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9E0B"/>
                </a:solidFill>
              </a:rPr>
              <a:t>256×256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475488" y="138988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2937"/>
                </a:solidFill>
              </a:rPr>
              <a:t>局部 SNR 熱圖 / Local SNR Map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75488" y="1664208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CA3AF"/>
                </a:solidFill>
              </a:rPr>
              <a:t>patch grid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00400" y="804672"/>
            <a:ext cx="260604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0" y="804672"/>
            <a:ext cx="2606040" cy="64008"/>
          </a:xfrm>
          <a:prstGeom prst="rect">
            <a:avLst/>
          </a:prstGeom>
          <a:solidFill>
            <a:srgbClr val="16A3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10128" y="886968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A34A"/>
                </a:solidFill>
              </a:rPr>
              <a:t>Mean + 2σ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3310128" y="138988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2937"/>
                </a:solidFill>
              </a:rPr>
              <a:t>高訊號閾值 / SNR Threshold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3310128" y="1664208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CA3AF"/>
                </a:solidFill>
              </a:rPr>
              <a:t>dynamic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035040" y="804672"/>
            <a:ext cx="260604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035040" y="804672"/>
            <a:ext cx="2606040" cy="64008"/>
          </a:xfrm>
          <a:prstGeom prst="rect">
            <a:avLst/>
          </a:prstGeom>
          <a:solidFill>
            <a:srgbClr val="2563E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44768" y="886968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563EB"/>
                </a:solidFill>
              </a:rPr>
              <a:t>JET LUT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6144768" y="138988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2937"/>
                </a:solidFill>
              </a:rPr>
              <a:t>彩色視覺化 / Colorize Mode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144768" y="1664208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CA3AF"/>
                </a:solidFill>
              </a:rPr>
              <a:t>heatmap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65760" y="2176272"/>
            <a:ext cx="8412480" cy="23774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2176272"/>
            <a:ext cx="64008" cy="2377440"/>
          </a:xfrm>
          <a:prstGeom prst="rect">
            <a:avLst/>
          </a:prstGeom>
          <a:solidFill>
            <a:srgbClr val="F59E0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" y="2267712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</a:rPr>
              <a:t>SNR 計算流程  /  SNR Computation Pipeline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594360" y="2761488"/>
            <a:ext cx="530352" cy="53035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94360" y="276148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①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57200" y="3337560"/>
            <a:ext cx="822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F2937"/>
                </a:solidFill>
              </a:rPr>
              <a:t>分割 Patch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411480" y="3767328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B5563"/>
                </a:solidFill>
              </a:rPr>
              <a:t>Tile result image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4B5563"/>
                </a:solidFill>
              </a:rPr>
              <a:t>into local patches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1161288" y="2990088"/>
            <a:ext cx="1078992" cy="27432"/>
          </a:xfrm>
          <a:prstGeom prst="rect">
            <a:avLst/>
          </a:prstGeom>
          <a:solidFill>
            <a:srgbClr val="FBBF2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276856" y="2761488"/>
            <a:ext cx="530352" cy="530352"/>
          </a:xfrm>
          <a:prstGeom prst="ellipse">
            <a:avLst/>
          </a:prstGeom>
          <a:solidFill>
            <a:srgbClr val="D9770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276856" y="276148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②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2139696" y="3337560"/>
            <a:ext cx="822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F2937"/>
                </a:solidFill>
              </a:rPr>
              <a:t>計算局部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1F2937"/>
                </a:solidFill>
              </a:rPr>
              <a:t>Mean &amp; Std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2093976" y="3767328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B5563"/>
                </a:solidFill>
              </a:rPr>
              <a:t>Compute local mean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4B5563"/>
                </a:solidFill>
              </a:rPr>
              <a:t>&amp; std per patch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2843784" y="2990088"/>
            <a:ext cx="1078992" cy="27432"/>
          </a:xfrm>
          <a:prstGeom prst="rect">
            <a:avLst/>
          </a:prstGeom>
          <a:solidFill>
            <a:srgbClr val="FBBF2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959352" y="2761488"/>
            <a:ext cx="530352" cy="530352"/>
          </a:xfrm>
          <a:prstGeom prst="ellipse">
            <a:avLst/>
          </a:prstGeom>
          <a:solidFill>
            <a:srgbClr val="16A3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959352" y="276148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③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3822192" y="3337560"/>
            <a:ext cx="822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F2937"/>
                </a:solidFill>
              </a:rPr>
              <a:t>SNR = μ/σ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3776472" y="3767328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B5563"/>
                </a:solidFill>
              </a:rPr>
              <a:t>Local SNR score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4B5563"/>
                </a:solidFill>
              </a:rPr>
              <a:t>per patch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4526280" y="2990088"/>
            <a:ext cx="1078992" cy="27432"/>
          </a:xfrm>
          <a:prstGeom prst="rect">
            <a:avLst/>
          </a:prstGeom>
          <a:solidFill>
            <a:srgbClr val="FBBF2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641848" y="2761488"/>
            <a:ext cx="530352" cy="53035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641848" y="276148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④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5504688" y="3337560"/>
            <a:ext cx="822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F2937"/>
                </a:solidFill>
              </a:rPr>
              <a:t>高訊號篩選</a:t>
            </a:r>
            <a:endParaRPr lang="en-US" sz="1150" dirty="0"/>
          </a:p>
        </p:txBody>
      </p:sp>
      <p:sp>
        <p:nvSpPr>
          <p:cNvPr id="41" name="Text 39"/>
          <p:cNvSpPr/>
          <p:nvPr/>
        </p:nvSpPr>
        <p:spPr>
          <a:xfrm>
            <a:off x="5458968" y="3767328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B5563"/>
                </a:solidFill>
              </a:rPr>
              <a:t>Select patches &gt;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4B5563"/>
                </a:solidFill>
              </a:rPr>
              <a:t>Mean + 2σ threshold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6208776" y="2990088"/>
            <a:ext cx="1078992" cy="27432"/>
          </a:xfrm>
          <a:prstGeom prst="rect">
            <a:avLst/>
          </a:prstGeom>
          <a:solidFill>
            <a:srgbClr val="FBBF2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7324344" y="2761488"/>
            <a:ext cx="530352" cy="53035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324344" y="276148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⑤</a:t>
            </a:r>
            <a:endParaRPr lang="en-US" sz="1400" dirty="0"/>
          </a:p>
        </p:txBody>
      </p:sp>
      <p:sp>
        <p:nvSpPr>
          <p:cNvPr id="45" name="Text 43"/>
          <p:cNvSpPr/>
          <p:nvPr/>
        </p:nvSpPr>
        <p:spPr>
          <a:xfrm>
            <a:off x="7187184" y="3337560"/>
            <a:ext cx="822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F2937"/>
                </a:solidFill>
              </a:rPr>
              <a:t>JET 彩色熱圖</a:t>
            </a:r>
            <a:endParaRPr lang="en-US" sz="1150" dirty="0"/>
          </a:p>
        </p:txBody>
      </p:sp>
      <p:sp>
        <p:nvSpPr>
          <p:cNvPr id="46" name="Text 44"/>
          <p:cNvSpPr/>
          <p:nvPr/>
        </p:nvSpPr>
        <p:spPr>
          <a:xfrm>
            <a:off x="7141464" y="3767328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B5563"/>
                </a:solidFill>
              </a:rPr>
              <a:t>Apply JET colormap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4B5563"/>
                </a:solidFill>
              </a:rPr>
              <a:t>for visualization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</a:rPr>
              <a:t>ROI 管理與缺陷指標  </a:t>
            </a:r>
            <a:pPr indent="0" marL="0">
              <a:buNone/>
            </a:pPr>
            <a:r>
              <a:rPr lang="en-US" sz="1400" dirty="0">
                <a:solidFill>
                  <a:srgbClr val="4B5563"/>
                </a:solidFill>
              </a:rPr>
              <a:t>ROI Management &amp; Defect Metrics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658368"/>
            <a:ext cx="8229600" cy="22860"/>
          </a:xfrm>
          <a:prstGeom prst="rect">
            <a:avLst/>
          </a:prstGeom>
          <a:solidFill>
            <a:srgbClr val="E5E7E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658368"/>
            <a:ext cx="1645920" cy="22860"/>
          </a:xfrm>
          <a:prstGeom prst="rect">
            <a:avLst/>
          </a:prstGeom>
          <a:solidFill>
            <a:srgbClr val="F59E0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804672"/>
            <a:ext cx="3840480" cy="39319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804672"/>
            <a:ext cx="64008" cy="3931920"/>
          </a:xfrm>
          <a:prstGeom prst="rect">
            <a:avLst/>
          </a:prstGeom>
          <a:solidFill>
            <a:srgbClr val="F59E0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30352" y="886968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</a:rPr>
              <a:t>ROI 系統功能  /  ROI System Features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30352" y="1325880"/>
            <a:ext cx="54864" cy="502920"/>
          </a:xfrm>
          <a:prstGeom prst="rect">
            <a:avLst/>
          </a:prstGeom>
          <a:solidFill>
            <a:srgbClr val="F59E0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13232" y="132588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937"/>
                </a:solidFill>
              </a:rPr>
              <a:t>命名 ROI / Named ROI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713232" y="1581912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B5563"/>
                </a:solidFill>
              </a:rPr>
              <a:t>每個 ROI 可自訂名稱標籤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B5563"/>
                </a:solidFill>
              </a:rPr>
              <a:t>Custom name label per region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30352" y="2103120"/>
            <a:ext cx="54864" cy="502920"/>
          </a:xfrm>
          <a:prstGeom prst="rect">
            <a:avLst/>
          </a:prstGeom>
          <a:solidFill>
            <a:srgbClr val="F59E0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13232" y="210312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937"/>
                </a:solidFill>
              </a:rPr>
              <a:t>類型分類 / Type: Target / Ref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713232" y="2359152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B5563"/>
                </a:solidFill>
              </a:rPr>
              <a:t>Target（缺陷目標）或 Reference（參考對照）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B5563"/>
                </a:solidFill>
              </a:rPr>
              <a:t>Classify as defect target or reference region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30352" y="2880360"/>
            <a:ext cx="54864" cy="502920"/>
          </a:xfrm>
          <a:prstGeom prst="rect">
            <a:avLst/>
          </a:prstGeom>
          <a:solidFill>
            <a:srgbClr val="F59E0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13232" y="288036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937"/>
                </a:solidFill>
              </a:rPr>
              <a:t>多 ROI 管理 / Multi-ROI Set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713232" y="3136392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B5563"/>
                </a:solidFill>
              </a:rPr>
              <a:t>同時管理多個 ROI，一次計算所有統計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B5563"/>
                </a:solidFill>
              </a:rPr>
              <a:t>Manage multiple regions in one batch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30352" y="3657600"/>
            <a:ext cx="54864" cy="502920"/>
          </a:xfrm>
          <a:prstGeom prst="rect">
            <a:avLst/>
          </a:prstGeom>
          <a:solidFill>
            <a:srgbClr val="F59E0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13232" y="365760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937"/>
                </a:solidFill>
              </a:rPr>
              <a:t>互動式繪製 / Interactive Draw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713232" y="3913632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B5563"/>
                </a:solidFill>
              </a:rPr>
              <a:t>滑鼠拖拉直接在影像上繪製 ROI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B5563"/>
                </a:solidFill>
              </a:rPr>
              <a:t>Draw ROI directly on image via mouse drag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480560" y="804672"/>
            <a:ext cx="4297680" cy="84124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480560" y="804672"/>
            <a:ext cx="64008" cy="841248"/>
          </a:xfrm>
          <a:prstGeom prst="rect">
            <a:avLst/>
          </a:prstGeom>
          <a:solidFill>
            <a:srgbClr val="F59E0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645152" y="877824"/>
            <a:ext cx="1097280" cy="685800"/>
          </a:xfrm>
          <a:prstGeom prst="rect">
            <a:avLst/>
          </a:prstGeom>
          <a:solidFill>
            <a:srgbClr val="11182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645152" y="877824"/>
            <a:ext cx="1097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SNR_target / SNR_ref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897880" y="859536"/>
            <a:ext cx="2697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937"/>
                </a:solidFill>
              </a:rPr>
              <a:t>DVI — Defect Visibility Index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5897880" y="118872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B5563"/>
                </a:solidFill>
              </a:rPr>
              <a:t>缺陷可見度指數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B5563"/>
                </a:solidFill>
              </a:rPr>
              <a:t>Higher = more visible defect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480560" y="1783080"/>
            <a:ext cx="4297680" cy="84124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480560" y="1783080"/>
            <a:ext cx="64008" cy="841248"/>
          </a:xfrm>
          <a:prstGeom prst="rect">
            <a:avLst/>
          </a:prstGeom>
          <a:solidFill>
            <a:srgbClr val="16A3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645152" y="1856232"/>
            <a:ext cx="1097280" cy="685800"/>
          </a:xfrm>
          <a:prstGeom prst="rect">
            <a:avLst/>
          </a:prstGeom>
          <a:solidFill>
            <a:srgbClr val="11182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645152" y="1856232"/>
            <a:ext cx="1097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|μ_target − μ_ref|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897880" y="1837944"/>
            <a:ext cx="2697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937"/>
                </a:solidFill>
              </a:rPr>
              <a:t>Contrast — Mean Contrast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5897880" y="2167128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B5563"/>
                </a:solidFill>
              </a:rPr>
              <a:t>目標與參考區域亮度差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B5563"/>
                </a:solidFill>
              </a:rPr>
              <a:t>Brightness difference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4480560" y="2761488"/>
            <a:ext cx="4297680" cy="84124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480560" y="2761488"/>
            <a:ext cx="64008" cy="841248"/>
          </a:xfrm>
          <a:prstGeom prst="rect">
            <a:avLst/>
          </a:prstGeom>
          <a:solidFill>
            <a:srgbClr val="2563E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645152" y="2834640"/>
            <a:ext cx="1097280" cy="685800"/>
          </a:xfrm>
          <a:prstGeom prst="rect">
            <a:avLst/>
          </a:prstGeom>
          <a:solidFill>
            <a:srgbClr val="11182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645152" y="2834640"/>
            <a:ext cx="1097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Laplacian Variance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897880" y="2816352"/>
            <a:ext cx="2697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937"/>
                </a:solidFill>
              </a:rPr>
              <a:t>Edge Sharpness — Laplacian Sharpness</a:t>
            </a:r>
            <a:endParaRPr lang="en-US" sz="1250" dirty="0"/>
          </a:p>
        </p:txBody>
      </p:sp>
      <p:sp>
        <p:nvSpPr>
          <p:cNvPr id="37" name="Text 35"/>
          <p:cNvSpPr/>
          <p:nvPr/>
        </p:nvSpPr>
        <p:spPr>
          <a:xfrm>
            <a:off x="5897880" y="3145536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B5563"/>
                </a:solidFill>
              </a:rPr>
              <a:t>邊緣清晰度評分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B5563"/>
                </a:solidFill>
              </a:rPr>
              <a:t>Edge clarity score via Laplacian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4480560" y="3739896"/>
            <a:ext cx="4297680" cy="84124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4480560" y="3739896"/>
            <a:ext cx="64008" cy="841248"/>
          </a:xfrm>
          <a:prstGeom prst="rect">
            <a:avLst/>
          </a:prstGeom>
          <a:solidFill>
            <a:srgbClr val="7C3AE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645152" y="3813048"/>
            <a:ext cx="1097280" cy="685800"/>
          </a:xfrm>
          <a:prstGeom prst="rect">
            <a:avLst/>
          </a:prstGeom>
          <a:solidFill>
            <a:srgbClr val="11182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645152" y="3813048"/>
            <a:ext cx="1097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μ_patch / σ_patch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5897880" y="3794760"/>
            <a:ext cx="2697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937"/>
                </a:solidFill>
              </a:rPr>
              <a:t>ROI SNR — Local ROI SNR</a:t>
            </a:r>
            <a:endParaRPr lang="en-US" sz="1250" dirty="0"/>
          </a:p>
        </p:txBody>
      </p:sp>
      <p:sp>
        <p:nvSpPr>
          <p:cNvPr id="43" name="Text 41"/>
          <p:cNvSpPr/>
          <p:nvPr/>
        </p:nvSpPr>
        <p:spPr>
          <a:xfrm>
            <a:off x="5897880" y="4123944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B5563"/>
                </a:solidFill>
              </a:rPr>
              <a:t>ROI 區域內訊噪比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B5563"/>
                </a:solidFill>
              </a:rPr>
              <a:t>Signal-to-noise ratio within ROI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4480560" y="4709160"/>
            <a:ext cx="4297680" cy="320040"/>
          </a:xfrm>
          <a:prstGeom prst="rect">
            <a:avLst/>
          </a:prstGeom>
          <a:solidFill>
            <a:srgbClr val="FEF3C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480560" y="470916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2400E"/>
                </a:solidFill>
              </a:rPr>
              <a:t>所有指標自動計算並顯示於結果面板  ·  All metrics auto-computed and shown in result panel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</a:rPr>
              <a:t>進階融合模式  </a:t>
            </a:r>
            <a:pPr indent="0" marL="0">
              <a:buNone/>
            </a:pPr>
            <a:r>
              <a:rPr lang="en-US" sz="1400" dirty="0">
                <a:solidFill>
                  <a:srgbClr val="4B5563"/>
                </a:solidFill>
              </a:rPr>
              <a:t>Advanced Fusion Modes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658368"/>
            <a:ext cx="8229600" cy="22860"/>
          </a:xfrm>
          <a:prstGeom prst="rect">
            <a:avLst/>
          </a:prstGeom>
          <a:solidFill>
            <a:srgbClr val="E5E7E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658368"/>
            <a:ext cx="1645920" cy="22860"/>
          </a:xfrm>
          <a:prstGeom prst="rect">
            <a:avLst/>
          </a:prstGeom>
          <a:solidFill>
            <a:srgbClr val="F59E0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804672"/>
            <a:ext cx="4114800" cy="39776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804672"/>
            <a:ext cx="64008" cy="3977640"/>
          </a:xfrm>
          <a:prstGeom prst="rect">
            <a:avLst/>
          </a:prstGeom>
          <a:solidFill>
            <a:srgbClr val="F59E0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30352" y="886968"/>
            <a:ext cx="3794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</a:rPr>
              <a:t>四象限融合  /  Quadrant Fusion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30352" y="1307592"/>
            <a:ext cx="3794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</a:rPr>
              <a:t>將影像分為四個象限，可分別指定不同的 Compare 影像進行融合，生成複合比較視圖。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</a:rPr>
              <a:t>Divides the image into four quadrants — each quadrant can use a different compare image, producing a composite comparison view.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914400" y="2606040"/>
            <a:ext cx="1325880" cy="1325880"/>
          </a:xfrm>
          <a:prstGeom prst="rect">
            <a:avLst/>
          </a:prstGeom>
          <a:solidFill>
            <a:srgbClr val="F59E0B">
              <a:alpha val="35000"/>
            </a:srgbClr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2606040"/>
            <a:ext cx="13258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9E0B"/>
                </a:solidFill>
              </a:rPr>
              <a:t>Q1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59E0B"/>
                </a:solidFill>
              </a:rPr>
              <a:t>Base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240280" y="2606040"/>
            <a:ext cx="1325880" cy="1325880"/>
          </a:xfrm>
          <a:prstGeom prst="rect">
            <a:avLst/>
          </a:prstGeom>
          <a:solidFill>
            <a:srgbClr val="16A34A">
              <a:alpha val="35000"/>
            </a:srgbClr>
          </a:solidFill>
          <a:ln w="19050">
            <a:solidFill>
              <a:srgbClr val="16A3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40280" y="2606040"/>
            <a:ext cx="13258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6A34A"/>
                </a:solidFill>
              </a:rPr>
              <a:t>Q2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6A34A"/>
                </a:solidFill>
              </a:rPr>
              <a:t>Cmp A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914400" y="3931920"/>
            <a:ext cx="1325880" cy="1325880"/>
          </a:xfrm>
          <a:prstGeom prst="rect">
            <a:avLst/>
          </a:prstGeom>
          <a:solidFill>
            <a:srgbClr val="2563EB">
              <a:alpha val="35000"/>
            </a:srgbClr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4400" y="3931920"/>
            <a:ext cx="13258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563EB"/>
                </a:solidFill>
              </a:rPr>
              <a:t>Q3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2563EB"/>
                </a:solidFill>
              </a:rPr>
              <a:t>Cmp B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240280" y="3931920"/>
            <a:ext cx="1325880" cy="1325880"/>
          </a:xfrm>
          <a:prstGeom prst="rect">
            <a:avLst/>
          </a:prstGeom>
          <a:solidFill>
            <a:srgbClr val="7C3AED">
              <a:alpha val="35000"/>
            </a:srgbClr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240280" y="3931920"/>
            <a:ext cx="13258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C3AED"/>
                </a:solidFill>
              </a:rPr>
              <a:t>Q4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7C3AED"/>
                </a:solidFill>
              </a:rPr>
              <a:t>Cmp C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226564" y="2606040"/>
            <a:ext cx="27432" cy="2651760"/>
          </a:xfrm>
          <a:prstGeom prst="rect">
            <a:avLst/>
          </a:prstGeom>
          <a:solidFill>
            <a:srgbClr val="1F293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14400" y="3918204"/>
            <a:ext cx="2651760" cy="27432"/>
          </a:xfrm>
          <a:prstGeom prst="rect">
            <a:avLst/>
          </a:prstGeom>
          <a:solidFill>
            <a:srgbClr val="1F293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4400" y="534924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9CA3AF"/>
                </a:solidFill>
              </a:rPr>
              <a:t>四象限融合示意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709160" y="804672"/>
            <a:ext cx="4069080" cy="39776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09160" y="804672"/>
            <a:ext cx="64008" cy="3977640"/>
          </a:xfrm>
          <a:prstGeom prst="rect">
            <a:avLst/>
          </a:prstGeom>
          <a:solidFill>
            <a:srgbClr val="16A3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73752" y="886968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</a:rPr>
              <a:t>多組 Pair 批次處理  /  Multi-Pair Batch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4873752" y="1307592"/>
            <a:ext cx="3749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</a:rPr>
              <a:t>一次設定多組 Base-Compare pair，批次執行對齊與運算，結果以 Tab 頁面分頁顯示。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</a:rPr>
              <a:t>Configure multiple Base-Compare pairs at once — batch alignment &amp; operations, results shown in tabbed view.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937760" y="2606040"/>
            <a:ext cx="2011680" cy="530352"/>
          </a:xfrm>
          <a:prstGeom prst="rect">
            <a:avLst/>
          </a:prstGeom>
          <a:solidFill>
            <a:srgbClr val="FEF3C7"/>
          </a:solidFill>
          <a:ln w="10160">
            <a:solidFill>
              <a:srgbClr val="F59E0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37760" y="2606040"/>
            <a:ext cx="2011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2400E"/>
                </a:solidFill>
              </a:rPr>
              <a:t>Pair 1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2400E"/>
                </a:solidFill>
              </a:rPr>
              <a:t>Base + Cmp A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995160" y="2834640"/>
            <a:ext cx="502920" cy="27432"/>
          </a:xfrm>
          <a:prstGeom prst="rect">
            <a:avLst/>
          </a:prstGeom>
          <a:solidFill>
            <a:srgbClr val="16A3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516368" y="2606040"/>
            <a:ext cx="1325880" cy="530352"/>
          </a:xfrm>
          <a:prstGeom prst="rect">
            <a:avLst/>
          </a:prstGeom>
          <a:solidFill>
            <a:srgbClr val="FFFFFF"/>
          </a:solidFill>
          <a:ln w="10160">
            <a:solidFill>
              <a:srgbClr val="16A34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516368" y="2606040"/>
            <a:ext cx="1325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6A34A"/>
                </a:solidFill>
              </a:rPr>
              <a:t>Result Tab 1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937760" y="3264408"/>
            <a:ext cx="2011680" cy="530352"/>
          </a:xfrm>
          <a:prstGeom prst="rect">
            <a:avLst/>
          </a:prstGeom>
          <a:solidFill>
            <a:srgbClr val="FEF3C7"/>
          </a:solidFill>
          <a:ln w="10160">
            <a:solidFill>
              <a:srgbClr val="F59E0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937760" y="3264408"/>
            <a:ext cx="2011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2400E"/>
                </a:solidFill>
              </a:rPr>
              <a:t>Pair 2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2400E"/>
                </a:solidFill>
              </a:rPr>
              <a:t>Base + Cmp B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995160" y="3493008"/>
            <a:ext cx="502920" cy="27432"/>
          </a:xfrm>
          <a:prstGeom prst="rect">
            <a:avLst/>
          </a:prstGeom>
          <a:solidFill>
            <a:srgbClr val="16A3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516368" y="3264408"/>
            <a:ext cx="1325880" cy="530352"/>
          </a:xfrm>
          <a:prstGeom prst="rect">
            <a:avLst/>
          </a:prstGeom>
          <a:solidFill>
            <a:srgbClr val="FFFFFF"/>
          </a:solidFill>
          <a:ln w="10160">
            <a:solidFill>
              <a:srgbClr val="16A34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516368" y="3264408"/>
            <a:ext cx="1325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6A34A"/>
                </a:solidFill>
              </a:rPr>
              <a:t>Result Tab 2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937760" y="3922776"/>
            <a:ext cx="2011680" cy="530352"/>
          </a:xfrm>
          <a:prstGeom prst="rect">
            <a:avLst/>
          </a:prstGeom>
          <a:solidFill>
            <a:srgbClr val="FEF3C7"/>
          </a:solidFill>
          <a:ln w="10160">
            <a:solidFill>
              <a:srgbClr val="F59E0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937760" y="3922776"/>
            <a:ext cx="2011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2400E"/>
                </a:solidFill>
              </a:rPr>
              <a:t>Pair 3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2400E"/>
                </a:solidFill>
              </a:rPr>
              <a:t>Base + Cmp C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6995160" y="4151376"/>
            <a:ext cx="502920" cy="27432"/>
          </a:xfrm>
          <a:prstGeom prst="rect">
            <a:avLst/>
          </a:prstGeom>
          <a:solidFill>
            <a:srgbClr val="16A3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516368" y="3922776"/>
            <a:ext cx="1325880" cy="530352"/>
          </a:xfrm>
          <a:prstGeom prst="rect">
            <a:avLst/>
          </a:prstGeom>
          <a:solidFill>
            <a:srgbClr val="FFFFFF"/>
          </a:solidFill>
          <a:ln w="10160">
            <a:solidFill>
              <a:srgbClr val="16A34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516368" y="3922776"/>
            <a:ext cx="1325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6A34A"/>
                </a:solidFill>
              </a:rPr>
              <a:t>Result Tab 3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</a:rPr>
              <a:t>PPTX 報告自動輸出  </a:t>
            </a:r>
            <a:pPr indent="0" marL="0">
              <a:buNone/>
            </a:pPr>
            <a:r>
              <a:rPr lang="en-US" sz="1400" dirty="0">
                <a:solidFill>
                  <a:srgbClr val="4B5563"/>
                </a:solidFill>
              </a:rPr>
              <a:t>Automated PPTX Report Export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658368"/>
            <a:ext cx="8229600" cy="22860"/>
          </a:xfrm>
          <a:prstGeom prst="rect">
            <a:avLst/>
          </a:prstGeom>
          <a:solidFill>
            <a:srgbClr val="E5E7E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658368"/>
            <a:ext cx="1645920" cy="22860"/>
          </a:xfrm>
          <a:prstGeom prst="rect">
            <a:avLst/>
          </a:prstGeom>
          <a:solidFill>
            <a:srgbClr val="F59E0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804672"/>
            <a:ext cx="841248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804672"/>
            <a:ext cx="64008" cy="1417320"/>
          </a:xfrm>
          <a:prstGeom prst="rect">
            <a:avLst/>
          </a:prstGeom>
          <a:solidFill>
            <a:srgbClr val="F59E0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30352" y="886968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</a:rPr>
              <a:t>一鍵生成完整 PowerPoint 分析報告  /  One-Click Full PowerPoint Analysis Report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30352" y="1307592"/>
            <a:ext cx="7955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</a:rPr>
              <a:t>使用 python-pptx 自動封裝所有分析結果，含影像、統計數據、ROI 指標，無需手動整理即可輸出專業報告。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</a:rPr>
              <a:t>Automatically packages all analysis results — images, statistics, ROI metrics — into a professional PowerPoint using python-pptx.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" y="2423160"/>
            <a:ext cx="265176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5760" y="2423160"/>
            <a:ext cx="265176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" y="251460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</a:rPr>
              <a:t>封面頁 / Cover Slide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75488" y="2862072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B5563"/>
                </a:solidFill>
              </a:rPr>
              <a:t>日期、版本、影像來源資訊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127248" y="2423160"/>
            <a:ext cx="265176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127248" y="2423160"/>
            <a:ext cx="2651760" cy="54864"/>
          </a:xfrm>
          <a:prstGeom prst="rect">
            <a:avLst/>
          </a:prstGeom>
          <a:solidFill>
            <a:srgbClr val="D9770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36976" y="251460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</a:rPr>
              <a:t>對齊結果 / Alignment Results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236976" y="2862072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B5563"/>
                </a:solidFill>
              </a:rPr>
              <a:t>dx/dy 位移量、對齊品質分數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888736" y="2423160"/>
            <a:ext cx="265176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888736" y="2423160"/>
            <a:ext cx="2651760" cy="54864"/>
          </a:xfrm>
          <a:prstGeom prst="rect">
            <a:avLst/>
          </a:prstGeom>
          <a:solidFill>
            <a:srgbClr val="16A3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998464" y="251460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</a:rPr>
              <a:t>運算結果影像 / Operation Images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998464" y="2862072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B5563"/>
                </a:solidFill>
              </a:rPr>
              <a:t>Subtract / Blend / Invert 結果圖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65760" y="3447288"/>
            <a:ext cx="265176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65760" y="3447288"/>
            <a:ext cx="2651760" cy="54864"/>
          </a:xfrm>
          <a:prstGeom prst="rect">
            <a:avLst/>
          </a:prstGeom>
          <a:solidFill>
            <a:srgbClr val="2563E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5488" y="3538728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</a:rPr>
              <a:t>SNR 熱圖 / SNR Heatmap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75488" y="388620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B5563"/>
                </a:solidFill>
              </a:rPr>
              <a:t>彩色局部 SNR 視覺化圖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3127248" y="3447288"/>
            <a:ext cx="265176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127248" y="3447288"/>
            <a:ext cx="2651760" cy="54864"/>
          </a:xfrm>
          <a:prstGeom prst="rect">
            <a:avLst/>
          </a:prstGeom>
          <a:solidFill>
            <a:srgbClr val="7C3AE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236976" y="3538728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</a:rPr>
              <a:t>ROI 統計表 / ROI Statistics Table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3236976" y="388620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B5563"/>
                </a:solidFill>
              </a:rPr>
              <a:t>DVI · Contrast · Sharpness 指標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5888736" y="3447288"/>
            <a:ext cx="265176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5888736" y="3447288"/>
            <a:ext cx="265176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998464" y="3538728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</a:rPr>
              <a:t>直方圖 / Histogram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5998464" y="388620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B5563"/>
                </a:solidFill>
              </a:rPr>
              <a:t>影像亮度分布圖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365760" y="4663440"/>
            <a:ext cx="8412480" cy="347472"/>
          </a:xfrm>
          <a:prstGeom prst="rect">
            <a:avLst/>
          </a:prstGeom>
          <a:solidFill>
            <a:srgbClr val="11182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57200" y="466344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CA3AF"/>
                </a:solidFill>
              </a:rPr>
              <a:t>輸出格式：.pptx  ·  使用 python-pptx 套件  ·  可直接在 PowerPoint / LibreOffice Impress 開啟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</a:rPr>
              <a:t>技術架構  </a:t>
            </a:r>
            <a:pPr indent="0" marL="0">
              <a:buNone/>
            </a:pPr>
            <a:r>
              <a:rPr lang="en-US" sz="1400" dirty="0">
                <a:solidFill>
                  <a:srgbClr val="4B5563"/>
                </a:solidFill>
              </a:rPr>
              <a:t>Technical Architecture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658368"/>
            <a:ext cx="8229600" cy="22860"/>
          </a:xfrm>
          <a:prstGeom prst="rect">
            <a:avLst/>
          </a:prstGeom>
          <a:solidFill>
            <a:srgbClr val="E5E7E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658368"/>
            <a:ext cx="1645920" cy="22860"/>
          </a:xfrm>
          <a:prstGeom prst="rect">
            <a:avLst/>
          </a:prstGeom>
          <a:solidFill>
            <a:srgbClr val="F59E0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804672"/>
            <a:ext cx="2788920" cy="39776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804672"/>
            <a:ext cx="64008" cy="3977640"/>
          </a:xfrm>
          <a:prstGeom prst="rect">
            <a:avLst/>
          </a:prstGeom>
          <a:solidFill>
            <a:srgbClr val="F59E0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30352" y="896112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</a:rPr>
              <a:t>UI Layer  /  介面層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30352" y="1298448"/>
            <a:ext cx="2377440" cy="22860"/>
          </a:xfrm>
          <a:prstGeom prst="rect">
            <a:avLst/>
          </a:prstGeom>
          <a:solidFill>
            <a:srgbClr val="E5E7E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30352" y="1389888"/>
            <a:ext cx="2423160" cy="566928"/>
          </a:xfrm>
          <a:prstGeom prst="rect">
            <a:avLst/>
          </a:prstGeom>
          <a:solidFill>
            <a:srgbClr val="F5F6F8"/>
          </a:solidFill>
          <a:ln w="10160">
            <a:solidFill>
              <a:srgbClr val="F59E0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30352" y="1389888"/>
            <a:ext cx="54864" cy="566928"/>
          </a:xfrm>
          <a:prstGeom prst="rect">
            <a:avLst/>
          </a:prstGeom>
          <a:solidFill>
            <a:srgbClr val="F59E0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76656" y="1389888"/>
            <a:ext cx="21762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</a:rPr>
              <a:t>PySide6 (Qt6)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30352" y="2225040"/>
            <a:ext cx="2423160" cy="566928"/>
          </a:xfrm>
          <a:prstGeom prst="rect">
            <a:avLst/>
          </a:prstGeom>
          <a:solidFill>
            <a:srgbClr val="F5F6F8"/>
          </a:solidFill>
          <a:ln w="10160">
            <a:solidFill>
              <a:srgbClr val="F59E0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30352" y="2225040"/>
            <a:ext cx="54864" cy="566928"/>
          </a:xfrm>
          <a:prstGeom prst="rect">
            <a:avLst/>
          </a:prstGeom>
          <a:solidFill>
            <a:srgbClr val="F59E0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76656" y="2225040"/>
            <a:ext cx="21762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</a:rPr>
              <a:t>design_tokens.py 設計系統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30352" y="3060192"/>
            <a:ext cx="2423160" cy="566928"/>
          </a:xfrm>
          <a:prstGeom prst="rect">
            <a:avLst/>
          </a:prstGeom>
          <a:solidFill>
            <a:srgbClr val="F5F6F8"/>
          </a:solidFill>
          <a:ln w="10160">
            <a:solidFill>
              <a:srgbClr val="F59E0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30352" y="3060192"/>
            <a:ext cx="54864" cy="566928"/>
          </a:xfrm>
          <a:prstGeom prst="rect">
            <a:avLst/>
          </a:prstGeom>
          <a:solidFill>
            <a:srgbClr val="F59E0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76656" y="3060192"/>
            <a:ext cx="21762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</a:rPr>
              <a:t>Welcome Tutorial Overlay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30352" y="3895344"/>
            <a:ext cx="2423160" cy="566928"/>
          </a:xfrm>
          <a:prstGeom prst="rect">
            <a:avLst/>
          </a:prstGeom>
          <a:solidFill>
            <a:srgbClr val="F5F6F8"/>
          </a:solidFill>
          <a:ln w="10160">
            <a:solidFill>
              <a:srgbClr val="F59E0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30352" y="3895344"/>
            <a:ext cx="54864" cy="566928"/>
          </a:xfrm>
          <a:prstGeom prst="rect">
            <a:avLst/>
          </a:prstGeom>
          <a:solidFill>
            <a:srgbClr val="F59E0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76656" y="3895344"/>
            <a:ext cx="21762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</a:rPr>
              <a:t>Matplotlib 圖表整合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310128" y="804672"/>
            <a:ext cx="2788920" cy="39776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310128" y="804672"/>
            <a:ext cx="64008" cy="3977640"/>
          </a:xfrm>
          <a:prstGeom prst="rect">
            <a:avLst/>
          </a:prstGeom>
          <a:solidFill>
            <a:srgbClr val="16A3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474720" y="896112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</a:rPr>
              <a:t>Core Layer  /  核心演算層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3474720" y="1298448"/>
            <a:ext cx="2377440" cy="22860"/>
          </a:xfrm>
          <a:prstGeom prst="rect">
            <a:avLst/>
          </a:prstGeom>
          <a:solidFill>
            <a:srgbClr val="E5E7E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474720" y="1389888"/>
            <a:ext cx="2423160" cy="566928"/>
          </a:xfrm>
          <a:prstGeom prst="rect">
            <a:avLst/>
          </a:prstGeom>
          <a:solidFill>
            <a:srgbClr val="F5F6F8"/>
          </a:solidFill>
          <a:ln w="10160">
            <a:solidFill>
              <a:srgbClr val="16A34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474720" y="1389888"/>
            <a:ext cx="54864" cy="566928"/>
          </a:xfrm>
          <a:prstGeom prst="rect">
            <a:avLst/>
          </a:prstGeom>
          <a:solidFill>
            <a:srgbClr val="16A3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21024" y="1389888"/>
            <a:ext cx="21762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</a:rPr>
              <a:t>perspective_combine.py — 主運算邏輯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474720" y="2642616"/>
            <a:ext cx="2423160" cy="566928"/>
          </a:xfrm>
          <a:prstGeom prst="rect">
            <a:avLst/>
          </a:prstGeom>
          <a:solidFill>
            <a:srgbClr val="F5F6F8"/>
          </a:solidFill>
          <a:ln w="10160">
            <a:solidFill>
              <a:srgbClr val="16A34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474720" y="2642616"/>
            <a:ext cx="54864" cy="566928"/>
          </a:xfrm>
          <a:prstGeom prst="rect">
            <a:avLst/>
          </a:prstGeom>
          <a:solidFill>
            <a:srgbClr val="16A3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21024" y="2642616"/>
            <a:ext cx="21762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</a:rPr>
              <a:t>ebeam_snr.py — 對齊 &amp; SNR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0" y="3895344"/>
            <a:ext cx="2423160" cy="566928"/>
          </a:xfrm>
          <a:prstGeom prst="rect">
            <a:avLst/>
          </a:prstGeom>
          <a:solidFill>
            <a:srgbClr val="F5F6F8"/>
          </a:solidFill>
          <a:ln w="10160">
            <a:solidFill>
              <a:srgbClr val="16A34A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474720" y="3895344"/>
            <a:ext cx="54864" cy="566928"/>
          </a:xfrm>
          <a:prstGeom prst="rect">
            <a:avLst/>
          </a:prstGeom>
          <a:solidFill>
            <a:srgbClr val="16A3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21024" y="3895344"/>
            <a:ext cx="21762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</a:rPr>
              <a:t>roi_set.py — ROI 管理與統計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254496" y="804672"/>
            <a:ext cx="2788920" cy="39776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254496" y="804672"/>
            <a:ext cx="64008" cy="3977640"/>
          </a:xfrm>
          <a:prstGeom prst="rect">
            <a:avLst/>
          </a:prstGeom>
          <a:solidFill>
            <a:srgbClr val="2563E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419088" y="896112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</a:rPr>
              <a:t>Dependencies  /  依賴套件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6419088" y="1298448"/>
            <a:ext cx="2377440" cy="22860"/>
          </a:xfrm>
          <a:prstGeom prst="rect">
            <a:avLst/>
          </a:prstGeom>
          <a:solidFill>
            <a:srgbClr val="E5E7E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419088" y="1389888"/>
            <a:ext cx="2423160" cy="566928"/>
          </a:xfrm>
          <a:prstGeom prst="rect">
            <a:avLst/>
          </a:prstGeom>
          <a:solidFill>
            <a:srgbClr val="F5F6F8"/>
          </a:solidFill>
          <a:ln w="10160">
            <a:solidFill>
              <a:srgbClr val="2563EB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419088" y="1389888"/>
            <a:ext cx="54864" cy="566928"/>
          </a:xfrm>
          <a:prstGeom prst="rect">
            <a:avLst/>
          </a:prstGeom>
          <a:solidFill>
            <a:srgbClr val="2563E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565392" y="1389888"/>
            <a:ext cx="21762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</a:rPr>
              <a:t>NumPy  — 數值運算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6419088" y="2225040"/>
            <a:ext cx="2423160" cy="566928"/>
          </a:xfrm>
          <a:prstGeom prst="rect">
            <a:avLst/>
          </a:prstGeom>
          <a:solidFill>
            <a:srgbClr val="F5F6F8"/>
          </a:solidFill>
          <a:ln w="10160">
            <a:solidFill>
              <a:srgbClr val="2563EB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419088" y="2225040"/>
            <a:ext cx="54864" cy="566928"/>
          </a:xfrm>
          <a:prstGeom prst="rect">
            <a:avLst/>
          </a:prstGeom>
          <a:solidFill>
            <a:srgbClr val="2563E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565392" y="2225040"/>
            <a:ext cx="21762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</a:rPr>
              <a:t>OpenCV  — 影像處理與對齊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6419088" y="3060192"/>
            <a:ext cx="2423160" cy="566928"/>
          </a:xfrm>
          <a:prstGeom prst="rect">
            <a:avLst/>
          </a:prstGeom>
          <a:solidFill>
            <a:srgbClr val="F5F6F8"/>
          </a:solidFill>
          <a:ln w="10160">
            <a:solidFill>
              <a:srgbClr val="2563EB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419088" y="3060192"/>
            <a:ext cx="54864" cy="566928"/>
          </a:xfrm>
          <a:prstGeom prst="rect">
            <a:avLst/>
          </a:prstGeom>
          <a:solidFill>
            <a:srgbClr val="2563E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565392" y="3060192"/>
            <a:ext cx="21762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</a:rPr>
              <a:t>Matplotlib  — 繪圖視覺化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6419088" y="3895344"/>
            <a:ext cx="2423160" cy="566928"/>
          </a:xfrm>
          <a:prstGeom prst="rect">
            <a:avLst/>
          </a:prstGeom>
          <a:solidFill>
            <a:srgbClr val="F5F6F8"/>
          </a:solidFill>
          <a:ln w="10160">
            <a:solidFill>
              <a:srgbClr val="2563EB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6419088" y="3895344"/>
            <a:ext cx="54864" cy="566928"/>
          </a:xfrm>
          <a:prstGeom prst="rect">
            <a:avLst/>
          </a:prstGeom>
          <a:solidFill>
            <a:srgbClr val="2563E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565392" y="3895344"/>
            <a:ext cx="21762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</a:rPr>
              <a:t>python-pptx  — 報告輸出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365760" y="4645152"/>
            <a:ext cx="8412480" cy="365760"/>
          </a:xfrm>
          <a:prstGeom prst="rect">
            <a:avLst/>
          </a:prstGeom>
          <a:solidFill>
            <a:srgbClr val="FEF3C7"/>
          </a:solidFill>
          <a:ln w="6350">
            <a:solidFill>
              <a:srgbClr val="F59E0B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02920" y="4663440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2400E"/>
                </a:solidFill>
              </a:rPr>
              <a:t>▶  進入點：main.py  →  Splash Screen  →  PerspectiveCombinationDialog  /  Entry: main.py → Splash → Main Dialog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29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" cy="5143500"/>
          </a:xfrm>
          <a:prstGeom prst="rect">
            <a:avLst/>
          </a:prstGeom>
          <a:solidFill>
            <a:srgbClr val="F59E0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11182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943600" y="274320"/>
            <a:ext cx="64008" cy="64008"/>
          </a:xfrm>
          <a:prstGeom prst="ellipse">
            <a:avLst/>
          </a:prstGeom>
          <a:solidFill>
            <a:srgbClr val="F59E0B">
              <a:alpha val="1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0" y="594360"/>
            <a:ext cx="64008" cy="64008"/>
          </a:xfrm>
          <a:prstGeom prst="ellipse">
            <a:avLst/>
          </a:prstGeom>
          <a:solidFill>
            <a:srgbClr val="F59E0B">
              <a:alpha val="1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0" y="914400"/>
            <a:ext cx="64008" cy="64008"/>
          </a:xfrm>
          <a:prstGeom prst="ellipse">
            <a:avLst/>
          </a:prstGeom>
          <a:solidFill>
            <a:srgbClr val="F59E0B">
              <a:alpha val="1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943600" y="1234440"/>
            <a:ext cx="64008" cy="64008"/>
          </a:xfrm>
          <a:prstGeom prst="ellipse">
            <a:avLst/>
          </a:prstGeom>
          <a:solidFill>
            <a:srgbClr val="F59E0B">
              <a:alpha val="1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943600" y="1554480"/>
            <a:ext cx="64008" cy="64008"/>
          </a:xfrm>
          <a:prstGeom prst="ellipse">
            <a:avLst/>
          </a:prstGeom>
          <a:solidFill>
            <a:srgbClr val="F59E0B">
              <a:alpha val="1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943600" y="1874520"/>
            <a:ext cx="64008" cy="64008"/>
          </a:xfrm>
          <a:prstGeom prst="ellipse">
            <a:avLst/>
          </a:prstGeom>
          <a:solidFill>
            <a:srgbClr val="F59E0B">
              <a:alpha val="1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943600" y="2194560"/>
            <a:ext cx="64008" cy="64008"/>
          </a:xfrm>
          <a:prstGeom prst="ellipse">
            <a:avLst/>
          </a:prstGeom>
          <a:solidFill>
            <a:srgbClr val="F59E0B">
              <a:alpha val="1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263640" y="274320"/>
            <a:ext cx="64008" cy="64008"/>
          </a:xfrm>
          <a:prstGeom prst="ellipse">
            <a:avLst/>
          </a:prstGeom>
          <a:solidFill>
            <a:srgbClr val="F59E0B">
              <a:alpha val="1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263640" y="594360"/>
            <a:ext cx="64008" cy="64008"/>
          </a:xfrm>
          <a:prstGeom prst="ellipse">
            <a:avLst/>
          </a:prstGeom>
          <a:solidFill>
            <a:srgbClr val="F59E0B">
              <a:alpha val="1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63640" y="914400"/>
            <a:ext cx="64008" cy="64008"/>
          </a:xfrm>
          <a:prstGeom prst="ellipse">
            <a:avLst/>
          </a:prstGeom>
          <a:solidFill>
            <a:srgbClr val="F59E0B">
              <a:alpha val="1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263640" y="1234440"/>
            <a:ext cx="64008" cy="64008"/>
          </a:xfrm>
          <a:prstGeom prst="ellipse">
            <a:avLst/>
          </a:prstGeom>
          <a:solidFill>
            <a:srgbClr val="F59E0B">
              <a:alpha val="1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263640" y="1554480"/>
            <a:ext cx="64008" cy="64008"/>
          </a:xfrm>
          <a:prstGeom prst="ellipse">
            <a:avLst/>
          </a:prstGeom>
          <a:solidFill>
            <a:srgbClr val="F59E0B">
              <a:alpha val="1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263640" y="1874520"/>
            <a:ext cx="64008" cy="64008"/>
          </a:xfrm>
          <a:prstGeom prst="ellipse">
            <a:avLst/>
          </a:prstGeom>
          <a:solidFill>
            <a:srgbClr val="F59E0B">
              <a:alpha val="1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263640" y="2194560"/>
            <a:ext cx="64008" cy="64008"/>
          </a:xfrm>
          <a:prstGeom prst="ellipse">
            <a:avLst/>
          </a:prstGeom>
          <a:solidFill>
            <a:srgbClr val="F59E0B">
              <a:alpha val="1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583680" y="274320"/>
            <a:ext cx="64008" cy="64008"/>
          </a:xfrm>
          <a:prstGeom prst="ellipse">
            <a:avLst/>
          </a:prstGeom>
          <a:solidFill>
            <a:srgbClr val="F59E0B">
              <a:alpha val="1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583680" y="594360"/>
            <a:ext cx="64008" cy="64008"/>
          </a:xfrm>
          <a:prstGeom prst="ellipse">
            <a:avLst/>
          </a:prstGeom>
          <a:solidFill>
            <a:srgbClr val="F59E0B">
              <a:alpha val="1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583680" y="914400"/>
            <a:ext cx="64008" cy="64008"/>
          </a:xfrm>
          <a:prstGeom prst="ellipse">
            <a:avLst/>
          </a:prstGeom>
          <a:solidFill>
            <a:srgbClr val="F59E0B">
              <a:alpha val="1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583680" y="1234440"/>
            <a:ext cx="64008" cy="64008"/>
          </a:xfrm>
          <a:prstGeom prst="ellipse">
            <a:avLst/>
          </a:prstGeom>
          <a:solidFill>
            <a:srgbClr val="F59E0B">
              <a:alpha val="1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583680" y="1554480"/>
            <a:ext cx="64008" cy="64008"/>
          </a:xfrm>
          <a:prstGeom prst="ellipse">
            <a:avLst/>
          </a:prstGeom>
          <a:solidFill>
            <a:srgbClr val="F59E0B">
              <a:alpha val="1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583680" y="1874520"/>
            <a:ext cx="64008" cy="64008"/>
          </a:xfrm>
          <a:prstGeom prst="ellipse">
            <a:avLst/>
          </a:prstGeom>
          <a:solidFill>
            <a:srgbClr val="F59E0B">
              <a:alpha val="1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583680" y="2194560"/>
            <a:ext cx="64008" cy="64008"/>
          </a:xfrm>
          <a:prstGeom prst="ellipse">
            <a:avLst/>
          </a:prstGeom>
          <a:solidFill>
            <a:srgbClr val="F59E0B">
              <a:alpha val="1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903720" y="274320"/>
            <a:ext cx="64008" cy="64008"/>
          </a:xfrm>
          <a:prstGeom prst="ellipse">
            <a:avLst/>
          </a:prstGeom>
          <a:solidFill>
            <a:srgbClr val="F59E0B">
              <a:alpha val="1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903720" y="594360"/>
            <a:ext cx="64008" cy="64008"/>
          </a:xfrm>
          <a:prstGeom prst="ellipse">
            <a:avLst/>
          </a:prstGeom>
          <a:solidFill>
            <a:srgbClr val="F59E0B">
              <a:alpha val="1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903720" y="914400"/>
            <a:ext cx="64008" cy="64008"/>
          </a:xfrm>
          <a:prstGeom prst="ellipse">
            <a:avLst/>
          </a:prstGeom>
          <a:solidFill>
            <a:srgbClr val="F59E0B">
              <a:alpha val="1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903720" y="1234440"/>
            <a:ext cx="64008" cy="64008"/>
          </a:xfrm>
          <a:prstGeom prst="ellipse">
            <a:avLst/>
          </a:prstGeom>
          <a:solidFill>
            <a:srgbClr val="F59E0B">
              <a:alpha val="1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903720" y="1554480"/>
            <a:ext cx="64008" cy="64008"/>
          </a:xfrm>
          <a:prstGeom prst="ellipse">
            <a:avLst/>
          </a:prstGeom>
          <a:solidFill>
            <a:srgbClr val="F59E0B">
              <a:alpha val="1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903720" y="1874520"/>
            <a:ext cx="64008" cy="64008"/>
          </a:xfrm>
          <a:prstGeom prst="ellipse">
            <a:avLst/>
          </a:prstGeom>
          <a:solidFill>
            <a:srgbClr val="F59E0B">
              <a:alpha val="1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903720" y="2194560"/>
            <a:ext cx="64008" cy="64008"/>
          </a:xfrm>
          <a:prstGeom prst="ellipse">
            <a:avLst/>
          </a:prstGeom>
          <a:solidFill>
            <a:srgbClr val="F59E0B">
              <a:alpha val="1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223760" y="274320"/>
            <a:ext cx="64008" cy="64008"/>
          </a:xfrm>
          <a:prstGeom prst="ellipse">
            <a:avLst/>
          </a:prstGeom>
          <a:solidFill>
            <a:srgbClr val="F59E0B">
              <a:alpha val="1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223760" y="594360"/>
            <a:ext cx="64008" cy="64008"/>
          </a:xfrm>
          <a:prstGeom prst="ellipse">
            <a:avLst/>
          </a:prstGeom>
          <a:solidFill>
            <a:srgbClr val="F59E0B">
              <a:alpha val="1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223760" y="914400"/>
            <a:ext cx="64008" cy="64008"/>
          </a:xfrm>
          <a:prstGeom prst="ellipse">
            <a:avLst/>
          </a:prstGeom>
          <a:solidFill>
            <a:srgbClr val="F59E0B">
              <a:alpha val="1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223760" y="1234440"/>
            <a:ext cx="64008" cy="64008"/>
          </a:xfrm>
          <a:prstGeom prst="ellipse">
            <a:avLst/>
          </a:prstGeom>
          <a:solidFill>
            <a:srgbClr val="F59E0B">
              <a:alpha val="1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223760" y="1554480"/>
            <a:ext cx="64008" cy="64008"/>
          </a:xfrm>
          <a:prstGeom prst="ellipse">
            <a:avLst/>
          </a:prstGeom>
          <a:solidFill>
            <a:srgbClr val="F59E0B">
              <a:alpha val="1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223760" y="1874520"/>
            <a:ext cx="64008" cy="64008"/>
          </a:xfrm>
          <a:prstGeom prst="ellipse">
            <a:avLst/>
          </a:prstGeom>
          <a:solidFill>
            <a:srgbClr val="F59E0B">
              <a:alpha val="1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223760" y="2194560"/>
            <a:ext cx="64008" cy="64008"/>
          </a:xfrm>
          <a:prstGeom prst="ellipse">
            <a:avLst/>
          </a:prstGeom>
          <a:solidFill>
            <a:srgbClr val="F59E0B">
              <a:alpha val="1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7543800" y="274320"/>
            <a:ext cx="64008" cy="64008"/>
          </a:xfrm>
          <a:prstGeom prst="ellipse">
            <a:avLst/>
          </a:prstGeom>
          <a:solidFill>
            <a:srgbClr val="F59E0B">
              <a:alpha val="1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7543800" y="594360"/>
            <a:ext cx="64008" cy="64008"/>
          </a:xfrm>
          <a:prstGeom prst="ellipse">
            <a:avLst/>
          </a:prstGeom>
          <a:solidFill>
            <a:srgbClr val="F59E0B">
              <a:alpha val="1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7543800" y="914400"/>
            <a:ext cx="64008" cy="64008"/>
          </a:xfrm>
          <a:prstGeom prst="ellipse">
            <a:avLst/>
          </a:prstGeom>
          <a:solidFill>
            <a:srgbClr val="F59E0B">
              <a:alpha val="1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7543800" y="1234440"/>
            <a:ext cx="64008" cy="64008"/>
          </a:xfrm>
          <a:prstGeom prst="ellipse">
            <a:avLst/>
          </a:prstGeom>
          <a:solidFill>
            <a:srgbClr val="F59E0B">
              <a:alpha val="1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7543800" y="1554480"/>
            <a:ext cx="64008" cy="64008"/>
          </a:xfrm>
          <a:prstGeom prst="ellipse">
            <a:avLst/>
          </a:prstGeom>
          <a:solidFill>
            <a:srgbClr val="F59E0B">
              <a:alpha val="1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7543800" y="1874520"/>
            <a:ext cx="64008" cy="64008"/>
          </a:xfrm>
          <a:prstGeom prst="ellipse">
            <a:avLst/>
          </a:prstGeom>
          <a:solidFill>
            <a:srgbClr val="F59E0B">
              <a:alpha val="1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7543800" y="2194560"/>
            <a:ext cx="64008" cy="64008"/>
          </a:xfrm>
          <a:prstGeom prst="ellipse">
            <a:avLst/>
          </a:prstGeom>
          <a:solidFill>
            <a:srgbClr val="F59E0B">
              <a:alpha val="1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7863840" y="274320"/>
            <a:ext cx="64008" cy="64008"/>
          </a:xfrm>
          <a:prstGeom prst="ellipse">
            <a:avLst/>
          </a:prstGeom>
          <a:solidFill>
            <a:srgbClr val="F59E0B">
              <a:alpha val="1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863840" y="594360"/>
            <a:ext cx="64008" cy="64008"/>
          </a:xfrm>
          <a:prstGeom prst="ellipse">
            <a:avLst/>
          </a:prstGeom>
          <a:solidFill>
            <a:srgbClr val="F59E0B">
              <a:alpha val="1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7863840" y="914400"/>
            <a:ext cx="64008" cy="64008"/>
          </a:xfrm>
          <a:prstGeom prst="ellipse">
            <a:avLst/>
          </a:prstGeom>
          <a:solidFill>
            <a:srgbClr val="F59E0B">
              <a:alpha val="1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7863840" y="1234440"/>
            <a:ext cx="64008" cy="64008"/>
          </a:xfrm>
          <a:prstGeom prst="ellipse">
            <a:avLst/>
          </a:prstGeom>
          <a:solidFill>
            <a:srgbClr val="F59E0B">
              <a:alpha val="1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7863840" y="1554480"/>
            <a:ext cx="64008" cy="64008"/>
          </a:xfrm>
          <a:prstGeom prst="ellipse">
            <a:avLst/>
          </a:prstGeom>
          <a:solidFill>
            <a:srgbClr val="F59E0B">
              <a:alpha val="1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7863840" y="1874520"/>
            <a:ext cx="64008" cy="64008"/>
          </a:xfrm>
          <a:prstGeom prst="ellipse">
            <a:avLst/>
          </a:prstGeom>
          <a:solidFill>
            <a:srgbClr val="F59E0B">
              <a:alpha val="1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7863840" y="2194560"/>
            <a:ext cx="64008" cy="64008"/>
          </a:xfrm>
          <a:prstGeom prst="ellipse">
            <a:avLst/>
          </a:prstGeom>
          <a:solidFill>
            <a:srgbClr val="F59E0B">
              <a:alpha val="1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8183880" y="274320"/>
            <a:ext cx="64008" cy="64008"/>
          </a:xfrm>
          <a:prstGeom prst="ellipse">
            <a:avLst/>
          </a:prstGeom>
          <a:solidFill>
            <a:srgbClr val="F59E0B">
              <a:alpha val="1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8183880" y="594360"/>
            <a:ext cx="64008" cy="64008"/>
          </a:xfrm>
          <a:prstGeom prst="ellipse">
            <a:avLst/>
          </a:prstGeom>
          <a:solidFill>
            <a:srgbClr val="F59E0B">
              <a:alpha val="1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8183880" y="914400"/>
            <a:ext cx="64008" cy="64008"/>
          </a:xfrm>
          <a:prstGeom prst="ellipse">
            <a:avLst/>
          </a:prstGeom>
          <a:solidFill>
            <a:srgbClr val="F59E0B">
              <a:alpha val="1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8183880" y="1234440"/>
            <a:ext cx="64008" cy="64008"/>
          </a:xfrm>
          <a:prstGeom prst="ellipse">
            <a:avLst/>
          </a:prstGeom>
          <a:solidFill>
            <a:srgbClr val="F59E0B">
              <a:alpha val="1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8183880" y="1554480"/>
            <a:ext cx="64008" cy="64008"/>
          </a:xfrm>
          <a:prstGeom prst="ellipse">
            <a:avLst/>
          </a:prstGeom>
          <a:solidFill>
            <a:srgbClr val="F59E0B">
              <a:alpha val="1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8183880" y="1874520"/>
            <a:ext cx="64008" cy="64008"/>
          </a:xfrm>
          <a:prstGeom prst="ellipse">
            <a:avLst/>
          </a:prstGeom>
          <a:solidFill>
            <a:srgbClr val="F59E0B">
              <a:alpha val="1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8183880" y="2194560"/>
            <a:ext cx="64008" cy="64008"/>
          </a:xfrm>
          <a:prstGeom prst="ellipse">
            <a:avLst/>
          </a:prstGeom>
          <a:solidFill>
            <a:srgbClr val="F59E0B">
              <a:alpha val="1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8503920" y="274320"/>
            <a:ext cx="64008" cy="64008"/>
          </a:xfrm>
          <a:prstGeom prst="ellipse">
            <a:avLst/>
          </a:prstGeom>
          <a:solidFill>
            <a:srgbClr val="F59E0B">
              <a:alpha val="1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8503920" y="594360"/>
            <a:ext cx="64008" cy="64008"/>
          </a:xfrm>
          <a:prstGeom prst="ellipse">
            <a:avLst/>
          </a:prstGeom>
          <a:solidFill>
            <a:srgbClr val="F59E0B">
              <a:alpha val="1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8503920" y="914400"/>
            <a:ext cx="64008" cy="64008"/>
          </a:xfrm>
          <a:prstGeom prst="ellipse">
            <a:avLst/>
          </a:prstGeom>
          <a:solidFill>
            <a:srgbClr val="F59E0B">
              <a:alpha val="1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8503920" y="1234440"/>
            <a:ext cx="64008" cy="64008"/>
          </a:xfrm>
          <a:prstGeom prst="ellipse">
            <a:avLst/>
          </a:prstGeom>
          <a:solidFill>
            <a:srgbClr val="F59E0B">
              <a:alpha val="1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8503920" y="1554480"/>
            <a:ext cx="64008" cy="64008"/>
          </a:xfrm>
          <a:prstGeom prst="ellipse">
            <a:avLst/>
          </a:prstGeom>
          <a:solidFill>
            <a:srgbClr val="F59E0B">
              <a:alpha val="1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8503920" y="1874520"/>
            <a:ext cx="64008" cy="64008"/>
          </a:xfrm>
          <a:prstGeom prst="ellipse">
            <a:avLst/>
          </a:prstGeom>
          <a:solidFill>
            <a:srgbClr val="F59E0B">
              <a:alpha val="1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8503920" y="2194560"/>
            <a:ext cx="64008" cy="64008"/>
          </a:xfrm>
          <a:prstGeom prst="ellipse">
            <a:avLst/>
          </a:prstGeom>
          <a:solidFill>
            <a:srgbClr val="F59E0B">
              <a:alpha val="1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457200" y="22860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9E0B"/>
                </a:solidFill>
              </a:rPr>
              <a:t>Fusi³ 功能總結</a:t>
            </a:r>
            <a:endParaRPr lang="en-US" sz="2800" dirty="0"/>
          </a:p>
        </p:txBody>
      </p:sp>
      <p:sp>
        <p:nvSpPr>
          <p:cNvPr id="68" name="Text 66"/>
          <p:cNvSpPr/>
          <p:nvPr/>
        </p:nvSpPr>
        <p:spPr>
          <a:xfrm>
            <a:off x="457200" y="749808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9CA3AF"/>
                </a:solidFill>
              </a:rPr>
              <a:t>Feature Summary</a:t>
            </a:r>
            <a:endParaRPr lang="en-US" sz="1600" dirty="0"/>
          </a:p>
        </p:txBody>
      </p:sp>
      <p:sp>
        <p:nvSpPr>
          <p:cNvPr id="69" name="Shape 67"/>
          <p:cNvSpPr/>
          <p:nvPr/>
        </p:nvSpPr>
        <p:spPr>
          <a:xfrm>
            <a:off x="365760" y="1280160"/>
            <a:ext cx="2011680" cy="1143000"/>
          </a:xfrm>
          <a:prstGeom prst="rect">
            <a:avLst/>
          </a:prstGeom>
          <a:solidFill>
            <a:srgbClr val="374151"/>
          </a:solidFill>
          <a:ln w="10160">
            <a:solidFill>
              <a:srgbClr val="F59E0B"/>
            </a:solidFill>
            <a:prstDash val="solid"/>
          </a:ln>
          <a:effectLst>
            <a:outerShdw sx="100000" sy="100000" kx="0" ky="0" algn="bl" rotWithShape="0" blurRad="203200" dist="50800" dir="8100000">
              <a:srgbClr val="000000">
                <a:alpha val="20000"/>
              </a:srgbClr>
            </a:outerShdw>
          </a:effectLst>
        </p:spPr>
      </p:sp>
      <p:sp>
        <p:nvSpPr>
          <p:cNvPr id="70" name="Shape 68"/>
          <p:cNvSpPr/>
          <p:nvPr/>
        </p:nvSpPr>
        <p:spPr>
          <a:xfrm>
            <a:off x="365760" y="1280160"/>
            <a:ext cx="201168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457200" y="13898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300" dirty="0"/>
          </a:p>
        </p:txBody>
      </p:sp>
      <p:sp>
        <p:nvSpPr>
          <p:cNvPr id="72" name="Text 70"/>
          <p:cNvSpPr/>
          <p:nvPr/>
        </p:nvSpPr>
        <p:spPr>
          <a:xfrm>
            <a:off x="457200" y="1783080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影像載入 &amp; E-beam 解析</a:t>
            </a:r>
            <a:endParaRPr lang="en-US" sz="1200" dirty="0"/>
          </a:p>
        </p:txBody>
      </p:sp>
      <p:sp>
        <p:nvSpPr>
          <p:cNvPr id="73" name="Text 71"/>
          <p:cNvSpPr/>
          <p:nvPr/>
        </p:nvSpPr>
        <p:spPr>
          <a:xfrm>
            <a:off x="457200" y="208483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CA3AF"/>
                </a:solidFill>
              </a:rPr>
              <a:t>Image Loading &amp; Auto-Parsing</a:t>
            </a:r>
            <a:endParaRPr lang="en-US" sz="950" dirty="0"/>
          </a:p>
        </p:txBody>
      </p:sp>
      <p:sp>
        <p:nvSpPr>
          <p:cNvPr id="74" name="Shape 72"/>
          <p:cNvSpPr/>
          <p:nvPr/>
        </p:nvSpPr>
        <p:spPr>
          <a:xfrm>
            <a:off x="2542032" y="1280160"/>
            <a:ext cx="2011680" cy="1143000"/>
          </a:xfrm>
          <a:prstGeom prst="rect">
            <a:avLst/>
          </a:prstGeom>
          <a:solidFill>
            <a:srgbClr val="374151"/>
          </a:solidFill>
          <a:ln w="10160">
            <a:solidFill>
              <a:srgbClr val="D97706"/>
            </a:solidFill>
            <a:prstDash val="solid"/>
          </a:ln>
          <a:effectLst>
            <a:outerShdw sx="100000" sy="100000" kx="0" ky="0" algn="bl" rotWithShape="0" blurRad="203200" dist="50800" dir="8100000">
              <a:srgbClr val="000000">
                <a:alpha val="20000"/>
              </a:srgbClr>
            </a:outerShdw>
          </a:effectLst>
        </p:spPr>
      </p:sp>
      <p:sp>
        <p:nvSpPr>
          <p:cNvPr id="75" name="Shape 73"/>
          <p:cNvSpPr/>
          <p:nvPr/>
        </p:nvSpPr>
        <p:spPr>
          <a:xfrm>
            <a:off x="2542032" y="1280160"/>
            <a:ext cx="2011680" cy="54864"/>
          </a:xfrm>
          <a:prstGeom prst="rect">
            <a:avLst/>
          </a:prstGeom>
          <a:solidFill>
            <a:srgbClr val="D9770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2633472" y="13898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770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300" dirty="0"/>
          </a:p>
        </p:txBody>
      </p:sp>
      <p:sp>
        <p:nvSpPr>
          <p:cNvPr id="77" name="Text 75"/>
          <p:cNvSpPr/>
          <p:nvPr/>
        </p:nvSpPr>
        <p:spPr>
          <a:xfrm>
            <a:off x="2633472" y="1783080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Phase Correlation 對齊</a:t>
            </a:r>
            <a:endParaRPr lang="en-US" sz="1200" dirty="0"/>
          </a:p>
        </p:txBody>
      </p:sp>
      <p:sp>
        <p:nvSpPr>
          <p:cNvPr id="78" name="Text 76"/>
          <p:cNvSpPr/>
          <p:nvPr/>
        </p:nvSpPr>
        <p:spPr>
          <a:xfrm>
            <a:off x="2633472" y="208483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CA3AF"/>
                </a:solidFill>
              </a:rPr>
              <a:t>Robust Alignment Algorithm</a:t>
            </a:r>
            <a:endParaRPr lang="en-US" sz="950" dirty="0"/>
          </a:p>
        </p:txBody>
      </p:sp>
      <p:sp>
        <p:nvSpPr>
          <p:cNvPr id="79" name="Shape 77"/>
          <p:cNvSpPr/>
          <p:nvPr/>
        </p:nvSpPr>
        <p:spPr>
          <a:xfrm>
            <a:off x="4718304" y="1280160"/>
            <a:ext cx="2011680" cy="1143000"/>
          </a:xfrm>
          <a:prstGeom prst="rect">
            <a:avLst/>
          </a:prstGeom>
          <a:solidFill>
            <a:srgbClr val="374151"/>
          </a:solidFill>
          <a:ln w="10160">
            <a:solidFill>
              <a:srgbClr val="16A34A"/>
            </a:solidFill>
            <a:prstDash val="solid"/>
          </a:ln>
          <a:effectLst>
            <a:outerShdw sx="100000" sy="100000" kx="0" ky="0" algn="bl" rotWithShape="0" blurRad="203200" dist="50800" dir="8100000">
              <a:srgbClr val="000000">
                <a:alpha val="20000"/>
              </a:srgbClr>
            </a:outerShdw>
          </a:effectLst>
        </p:spPr>
      </p:sp>
      <p:sp>
        <p:nvSpPr>
          <p:cNvPr id="80" name="Shape 78"/>
          <p:cNvSpPr/>
          <p:nvPr/>
        </p:nvSpPr>
        <p:spPr>
          <a:xfrm>
            <a:off x="4718304" y="1280160"/>
            <a:ext cx="2011680" cy="54864"/>
          </a:xfrm>
          <a:prstGeom prst="rect">
            <a:avLst/>
          </a:prstGeom>
          <a:solidFill>
            <a:srgbClr val="16A3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4809744" y="13898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A3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300" dirty="0"/>
          </a:p>
        </p:txBody>
      </p:sp>
      <p:sp>
        <p:nvSpPr>
          <p:cNvPr id="82" name="Text 80"/>
          <p:cNvSpPr/>
          <p:nvPr/>
        </p:nvSpPr>
        <p:spPr>
          <a:xfrm>
            <a:off x="4809744" y="1783080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5 種影像運算模式</a:t>
            </a:r>
            <a:endParaRPr lang="en-US" sz="1200" dirty="0"/>
          </a:p>
        </p:txBody>
      </p:sp>
      <p:sp>
        <p:nvSpPr>
          <p:cNvPr id="83" name="Text 81"/>
          <p:cNvSpPr/>
          <p:nvPr/>
        </p:nvSpPr>
        <p:spPr>
          <a:xfrm>
            <a:off x="4809744" y="208483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CA3AF"/>
                </a:solidFill>
              </a:rPr>
              <a:t>5 Operation Types (Sub/Blend/Inv)</a:t>
            </a:r>
            <a:endParaRPr lang="en-US" sz="950" dirty="0"/>
          </a:p>
        </p:txBody>
      </p:sp>
      <p:sp>
        <p:nvSpPr>
          <p:cNvPr id="84" name="Shape 82"/>
          <p:cNvSpPr/>
          <p:nvPr/>
        </p:nvSpPr>
        <p:spPr>
          <a:xfrm>
            <a:off x="6894576" y="1280160"/>
            <a:ext cx="2011680" cy="1143000"/>
          </a:xfrm>
          <a:prstGeom prst="rect">
            <a:avLst/>
          </a:prstGeom>
          <a:solidFill>
            <a:srgbClr val="374151"/>
          </a:solidFill>
          <a:ln w="10160">
            <a:solidFill>
              <a:srgbClr val="2563EB"/>
            </a:solidFill>
            <a:prstDash val="solid"/>
          </a:ln>
          <a:effectLst>
            <a:outerShdw sx="100000" sy="100000" kx="0" ky="0" algn="bl" rotWithShape="0" blurRad="203200" dist="50800" dir="8100000">
              <a:srgbClr val="000000">
                <a:alpha val="20000"/>
              </a:srgbClr>
            </a:outerShdw>
          </a:effectLst>
        </p:spPr>
      </p:sp>
      <p:sp>
        <p:nvSpPr>
          <p:cNvPr id="85" name="Shape 83"/>
          <p:cNvSpPr/>
          <p:nvPr/>
        </p:nvSpPr>
        <p:spPr>
          <a:xfrm>
            <a:off x="6894576" y="1280160"/>
            <a:ext cx="2011680" cy="54864"/>
          </a:xfrm>
          <a:prstGeom prst="rect">
            <a:avLst/>
          </a:prstGeom>
          <a:solidFill>
            <a:srgbClr val="2563E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6986016" y="13898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300" dirty="0"/>
          </a:p>
        </p:txBody>
      </p:sp>
      <p:sp>
        <p:nvSpPr>
          <p:cNvPr id="87" name="Text 85"/>
          <p:cNvSpPr/>
          <p:nvPr/>
        </p:nvSpPr>
        <p:spPr>
          <a:xfrm>
            <a:off x="6986016" y="1783080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局部 SNR 熱圖分析</a:t>
            </a:r>
            <a:endParaRPr lang="en-US" sz="1200" dirty="0"/>
          </a:p>
        </p:txBody>
      </p:sp>
      <p:sp>
        <p:nvSpPr>
          <p:cNvPr id="88" name="Text 86"/>
          <p:cNvSpPr/>
          <p:nvPr/>
        </p:nvSpPr>
        <p:spPr>
          <a:xfrm>
            <a:off x="6986016" y="208483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CA3AF"/>
                </a:solidFill>
              </a:rPr>
              <a:t>Local SNR Heatmap Analysis</a:t>
            </a:r>
            <a:endParaRPr lang="en-US" sz="950" dirty="0"/>
          </a:p>
        </p:txBody>
      </p:sp>
      <p:sp>
        <p:nvSpPr>
          <p:cNvPr id="89" name="Shape 87"/>
          <p:cNvSpPr/>
          <p:nvPr/>
        </p:nvSpPr>
        <p:spPr>
          <a:xfrm>
            <a:off x="365760" y="2670048"/>
            <a:ext cx="2011680" cy="1143000"/>
          </a:xfrm>
          <a:prstGeom prst="rect">
            <a:avLst/>
          </a:prstGeom>
          <a:solidFill>
            <a:srgbClr val="374151"/>
          </a:solidFill>
          <a:ln w="10160">
            <a:solidFill>
              <a:srgbClr val="7C3AED"/>
            </a:solidFill>
            <a:prstDash val="solid"/>
          </a:ln>
          <a:effectLst>
            <a:outerShdw sx="100000" sy="100000" kx="0" ky="0" algn="bl" rotWithShape="0" blurRad="203200" dist="50800" dir="8100000">
              <a:srgbClr val="000000">
                <a:alpha val="20000"/>
              </a:srgbClr>
            </a:outerShdw>
          </a:effectLst>
        </p:spPr>
      </p:sp>
      <p:sp>
        <p:nvSpPr>
          <p:cNvPr id="90" name="Shape 88"/>
          <p:cNvSpPr/>
          <p:nvPr/>
        </p:nvSpPr>
        <p:spPr>
          <a:xfrm>
            <a:off x="365760" y="2670048"/>
            <a:ext cx="2011680" cy="54864"/>
          </a:xfrm>
          <a:prstGeom prst="rect">
            <a:avLst/>
          </a:prstGeom>
          <a:solidFill>
            <a:srgbClr val="7C3AE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457200" y="27797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1300" dirty="0"/>
          </a:p>
        </p:txBody>
      </p:sp>
      <p:sp>
        <p:nvSpPr>
          <p:cNvPr id="92" name="Text 90"/>
          <p:cNvSpPr/>
          <p:nvPr/>
        </p:nvSpPr>
        <p:spPr>
          <a:xfrm>
            <a:off x="457200" y="3172968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多 ROI 缺陷指標</a:t>
            </a:r>
            <a:endParaRPr lang="en-US" sz="1200" dirty="0"/>
          </a:p>
        </p:txBody>
      </p:sp>
      <p:sp>
        <p:nvSpPr>
          <p:cNvPr id="93" name="Text 91"/>
          <p:cNvSpPr/>
          <p:nvPr/>
        </p:nvSpPr>
        <p:spPr>
          <a:xfrm>
            <a:off x="457200" y="34747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CA3AF"/>
                </a:solidFill>
              </a:rPr>
              <a:t>Multi-ROI Defect Metrics (DVI)</a:t>
            </a:r>
            <a:endParaRPr lang="en-US" sz="950" dirty="0"/>
          </a:p>
        </p:txBody>
      </p:sp>
      <p:sp>
        <p:nvSpPr>
          <p:cNvPr id="94" name="Shape 92"/>
          <p:cNvSpPr/>
          <p:nvPr/>
        </p:nvSpPr>
        <p:spPr>
          <a:xfrm>
            <a:off x="2542032" y="2670048"/>
            <a:ext cx="2011680" cy="1143000"/>
          </a:xfrm>
          <a:prstGeom prst="rect">
            <a:avLst/>
          </a:prstGeom>
          <a:solidFill>
            <a:srgbClr val="374151"/>
          </a:solidFill>
          <a:ln w="10160">
            <a:solidFill>
              <a:srgbClr val="0D9488"/>
            </a:solidFill>
            <a:prstDash val="solid"/>
          </a:ln>
          <a:effectLst>
            <a:outerShdw sx="100000" sy="100000" kx="0" ky="0" algn="bl" rotWithShape="0" blurRad="203200" dist="50800" dir="8100000">
              <a:srgbClr val="000000">
                <a:alpha val="20000"/>
              </a:srgbClr>
            </a:outerShdw>
          </a:effectLst>
        </p:spPr>
      </p:sp>
      <p:sp>
        <p:nvSpPr>
          <p:cNvPr id="95" name="Shape 93"/>
          <p:cNvSpPr/>
          <p:nvPr/>
        </p:nvSpPr>
        <p:spPr>
          <a:xfrm>
            <a:off x="2542032" y="2670048"/>
            <a:ext cx="201168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2633472" y="27797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</a:t>
            </a:r>
            <a:endParaRPr lang="en-US" sz="1300" dirty="0"/>
          </a:p>
        </p:txBody>
      </p:sp>
      <p:sp>
        <p:nvSpPr>
          <p:cNvPr id="97" name="Text 95"/>
          <p:cNvSpPr/>
          <p:nvPr/>
        </p:nvSpPr>
        <p:spPr>
          <a:xfrm>
            <a:off x="2633472" y="3172968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四象限 &amp; 批次融合</a:t>
            </a:r>
            <a:endParaRPr lang="en-US" sz="1200" dirty="0"/>
          </a:p>
        </p:txBody>
      </p:sp>
      <p:sp>
        <p:nvSpPr>
          <p:cNvPr id="98" name="Text 96"/>
          <p:cNvSpPr/>
          <p:nvPr/>
        </p:nvSpPr>
        <p:spPr>
          <a:xfrm>
            <a:off x="2633472" y="34747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CA3AF"/>
                </a:solidFill>
              </a:rPr>
              <a:t>Quadrant &amp; Multi-Pair Fusion</a:t>
            </a:r>
            <a:endParaRPr lang="en-US" sz="950" dirty="0"/>
          </a:p>
        </p:txBody>
      </p:sp>
      <p:sp>
        <p:nvSpPr>
          <p:cNvPr id="99" name="Shape 97"/>
          <p:cNvSpPr/>
          <p:nvPr/>
        </p:nvSpPr>
        <p:spPr>
          <a:xfrm>
            <a:off x="4718304" y="2670048"/>
            <a:ext cx="2011680" cy="1143000"/>
          </a:xfrm>
          <a:prstGeom prst="rect">
            <a:avLst/>
          </a:prstGeom>
          <a:solidFill>
            <a:srgbClr val="374151"/>
          </a:solidFill>
          <a:ln w="10160">
            <a:solidFill>
              <a:srgbClr val="F59E0B"/>
            </a:solidFill>
            <a:prstDash val="solid"/>
          </a:ln>
          <a:effectLst>
            <a:outerShdw sx="100000" sy="100000" kx="0" ky="0" algn="bl" rotWithShape="0" blurRad="203200" dist="50800" dir="8100000">
              <a:srgbClr val="000000">
                <a:alpha val="20000"/>
              </a:srgbClr>
            </a:outerShdw>
          </a:effectLst>
        </p:spPr>
      </p:sp>
      <p:sp>
        <p:nvSpPr>
          <p:cNvPr id="100" name="Shape 98"/>
          <p:cNvSpPr/>
          <p:nvPr/>
        </p:nvSpPr>
        <p:spPr>
          <a:xfrm>
            <a:off x="4718304" y="2670048"/>
            <a:ext cx="201168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4809744" y="27797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</a:t>
            </a:r>
            <a:endParaRPr lang="en-US" sz="1300" dirty="0"/>
          </a:p>
        </p:txBody>
      </p:sp>
      <p:sp>
        <p:nvSpPr>
          <p:cNvPr id="102" name="Text 100"/>
          <p:cNvSpPr/>
          <p:nvPr/>
        </p:nvSpPr>
        <p:spPr>
          <a:xfrm>
            <a:off x="4809744" y="3172968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PPTX 報告自動輸出</a:t>
            </a:r>
            <a:endParaRPr lang="en-US" sz="1200" dirty="0"/>
          </a:p>
        </p:txBody>
      </p:sp>
      <p:sp>
        <p:nvSpPr>
          <p:cNvPr id="103" name="Text 101"/>
          <p:cNvSpPr/>
          <p:nvPr/>
        </p:nvSpPr>
        <p:spPr>
          <a:xfrm>
            <a:off x="4809744" y="34747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CA3AF"/>
                </a:solidFill>
              </a:rPr>
              <a:t>Automated PPTX Report Export</a:t>
            </a:r>
            <a:endParaRPr lang="en-US" sz="950" dirty="0"/>
          </a:p>
        </p:txBody>
      </p:sp>
      <p:sp>
        <p:nvSpPr>
          <p:cNvPr id="104" name="Shape 102"/>
          <p:cNvSpPr/>
          <p:nvPr/>
        </p:nvSpPr>
        <p:spPr>
          <a:xfrm>
            <a:off x="6894576" y="2670048"/>
            <a:ext cx="2011680" cy="1143000"/>
          </a:xfrm>
          <a:prstGeom prst="rect">
            <a:avLst/>
          </a:prstGeom>
          <a:solidFill>
            <a:srgbClr val="374151"/>
          </a:solidFill>
          <a:ln w="10160">
            <a:solidFill>
              <a:srgbClr val="16A34A"/>
            </a:solidFill>
            <a:prstDash val="solid"/>
          </a:ln>
          <a:effectLst>
            <a:outerShdw sx="100000" sy="100000" kx="0" ky="0" algn="bl" rotWithShape="0" blurRad="203200" dist="50800" dir="8100000">
              <a:srgbClr val="000000">
                <a:alpha val="20000"/>
              </a:srgbClr>
            </a:outerShdw>
          </a:effectLst>
        </p:spPr>
      </p:sp>
      <p:sp>
        <p:nvSpPr>
          <p:cNvPr id="105" name="Shape 103"/>
          <p:cNvSpPr/>
          <p:nvPr/>
        </p:nvSpPr>
        <p:spPr>
          <a:xfrm>
            <a:off x="6894576" y="2670048"/>
            <a:ext cx="2011680" cy="54864"/>
          </a:xfrm>
          <a:prstGeom prst="rect">
            <a:avLst/>
          </a:prstGeom>
          <a:solidFill>
            <a:srgbClr val="16A3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6" name="Text 104"/>
          <p:cNvSpPr/>
          <p:nvPr/>
        </p:nvSpPr>
        <p:spPr>
          <a:xfrm>
            <a:off x="6986016" y="27797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A3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</a:t>
            </a:r>
            <a:endParaRPr lang="en-US" sz="1300" dirty="0"/>
          </a:p>
        </p:txBody>
      </p:sp>
      <p:sp>
        <p:nvSpPr>
          <p:cNvPr id="107" name="Text 105"/>
          <p:cNvSpPr/>
          <p:nvPr/>
        </p:nvSpPr>
        <p:spPr>
          <a:xfrm>
            <a:off x="6986016" y="3172968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新手引導 Tutorial</a:t>
            </a:r>
            <a:endParaRPr lang="en-US" sz="1200" dirty="0"/>
          </a:p>
        </p:txBody>
      </p:sp>
      <p:sp>
        <p:nvSpPr>
          <p:cNvPr id="108" name="Text 106"/>
          <p:cNvSpPr/>
          <p:nvPr/>
        </p:nvSpPr>
        <p:spPr>
          <a:xfrm>
            <a:off x="6986016" y="34747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CA3AF"/>
                </a:solidFill>
              </a:rPr>
              <a:t>Welcome Tutorial Onboarding</a:t>
            </a:r>
            <a:endParaRPr lang="en-US" sz="950" dirty="0"/>
          </a:p>
        </p:txBody>
      </p:sp>
      <p:sp>
        <p:nvSpPr>
          <p:cNvPr id="109" name="Text 107"/>
          <p:cNvSpPr/>
          <p:nvPr/>
        </p:nvSpPr>
        <p:spPr>
          <a:xfrm>
            <a:off x="274320" y="4736592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CA3AF"/>
                </a:solidFill>
              </a:rPr>
              <a:t>Fusi³  /  Perspective-Combination  ·  Built with PySide6 · OpenCV · NumPy · python-pptx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Fusi³ – SEM Image Fusion &amp; Defect Analysis</dc:title>
  <dc:subject>PptxGenJS Presentation</dc:subject>
  <dc:creator>PptxGenJS</dc:creator>
  <cp:lastModifiedBy>PptxGenJS</cp:lastModifiedBy>
  <cp:revision>1</cp:revision>
  <dcterms:created xsi:type="dcterms:W3CDTF">2026-03-15T17:11:26Z</dcterms:created>
  <dcterms:modified xsi:type="dcterms:W3CDTF">2026-03-15T17:11:26Z</dcterms:modified>
</cp:coreProperties>
</file>